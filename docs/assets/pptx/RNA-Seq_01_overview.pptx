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5"/>
  </p:notesMasterIdLst>
  <p:handoutMasterIdLst>
    <p:handoutMasterId r:id="rId56"/>
  </p:handoutMasterIdLst>
  <p:sldIdLst>
    <p:sldId id="2199" r:id="rId5"/>
    <p:sldId id="1180" r:id="rId6"/>
    <p:sldId id="2200" r:id="rId7"/>
    <p:sldId id="2313" r:id="rId8"/>
    <p:sldId id="2318" r:id="rId9"/>
    <p:sldId id="2201" r:id="rId10"/>
    <p:sldId id="2307" r:id="rId11"/>
    <p:sldId id="258" r:id="rId12"/>
    <p:sldId id="2207" r:id="rId13"/>
    <p:sldId id="2311" r:id="rId14"/>
    <p:sldId id="2312" r:id="rId15"/>
    <p:sldId id="2314" r:id="rId16"/>
    <p:sldId id="2328" r:id="rId17"/>
    <p:sldId id="2310" r:id="rId18"/>
    <p:sldId id="2315" r:id="rId19"/>
    <p:sldId id="2316" r:id="rId20"/>
    <p:sldId id="2329" r:id="rId21"/>
    <p:sldId id="2317" r:id="rId22"/>
    <p:sldId id="2320" r:id="rId23"/>
    <p:sldId id="2319" r:id="rId24"/>
    <p:sldId id="2321" r:id="rId25"/>
    <p:sldId id="2322" r:id="rId26"/>
    <p:sldId id="2323" r:id="rId27"/>
    <p:sldId id="2352" r:id="rId28"/>
    <p:sldId id="2324" r:id="rId29"/>
    <p:sldId id="2325" r:id="rId30"/>
    <p:sldId id="2326" r:id="rId31"/>
    <p:sldId id="2330" r:id="rId32"/>
    <p:sldId id="2327" r:id="rId33"/>
    <p:sldId id="2331" r:id="rId34"/>
    <p:sldId id="2332" r:id="rId35"/>
    <p:sldId id="2333" r:id="rId36"/>
    <p:sldId id="2334" r:id="rId37"/>
    <p:sldId id="2335" r:id="rId38"/>
    <p:sldId id="2336" r:id="rId39"/>
    <p:sldId id="2337" r:id="rId40"/>
    <p:sldId id="2338" r:id="rId41"/>
    <p:sldId id="2339" r:id="rId42"/>
    <p:sldId id="2341" r:id="rId43"/>
    <p:sldId id="2342" r:id="rId44"/>
    <p:sldId id="2343" r:id="rId45"/>
    <p:sldId id="2344" r:id="rId46"/>
    <p:sldId id="2345" r:id="rId47"/>
    <p:sldId id="2340" r:id="rId48"/>
    <p:sldId id="2346" r:id="rId49"/>
    <p:sldId id="2347" r:id="rId50"/>
    <p:sldId id="2351" r:id="rId51"/>
    <p:sldId id="2350" r:id="rId52"/>
    <p:sldId id="2348" r:id="rId53"/>
    <p:sldId id="2211" r:id="rId5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BC7DA7-61C6-FE01-D5D8-A892A102519B}" name="Marie Dangles" initials="MD" userId="S::Marie.Dangles@sib.swiss::7b63edcb-ccf4-4a75-88d0-c14d201c4d6b" providerId="AD"/>
  <p188:author id="{CE5D80B9-1F14-B145-DF47-4868472354CC}" name="Marie Dangles" initials="MD" userId="S::marie.dangles@sib.swiss::7b63edcb-ccf4-4a75-88d0-c14d201c4d6b" providerId="AD"/>
  <p188:author id="{808096D5-8C93-63BC-E4B0-42D5AEA0682D}" name="Maia Berman" initials="MB" userId="S::maia.berman@sib.swiss::1345ac14-4068-45c8-a090-8c43709fd17f" providerId="AD"/>
  <p188:author id="{6B1FADD7-C699-59FF-534C-F7CDC6EE7682}" name="Maia Berman" initials="MB" userId="S::Maia.Berman@sib.swiss::1345ac14-4068-45c8-a090-8c43709fd1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ore Wigger" initials="LW" lastIdx="33" clrIdx="0">
    <p:extLst>
      <p:ext uri="{19B8F6BF-5375-455C-9EA6-DF929625EA0E}">
        <p15:presenceInfo xmlns:p15="http://schemas.microsoft.com/office/powerpoint/2012/main" userId="086e7699ab774d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0" dt="2026-09-23T15:06:23.929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/>
    <p:restoredTop sz="81314"/>
  </p:normalViewPr>
  <p:slideViewPr>
    <p:cSldViewPr snapToGrid="0">
      <p:cViewPr varScale="1">
        <p:scale>
          <a:sx n="42" d="100"/>
          <a:sy n="42" d="100"/>
        </p:scale>
        <p:origin x="192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63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commentAuthors" Target="comment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F87670A-975B-8A3E-CA1E-1C95318AB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AF402A-CBD2-E8BA-AAA8-34E54EAE21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29005-80C1-A548-84CE-9D8F7C27BC60}" type="datetimeFigureOut">
              <a:rPr lang="fr-FR" smtClean="0">
                <a:latin typeface="Corbel" panose="020B0503020204020204" pitchFamily="34" charset="0"/>
              </a:rPr>
              <a:t>23/09/2026</a:t>
            </a:fld>
            <a:endParaRPr lang="fr-FR">
              <a:latin typeface="Corbel" panose="020B0503020204020204" pitchFamily="34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918FD6-F4AE-D982-B32D-7F319AFAF6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C636B7-0054-2915-21E4-2E5FE70944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0CD75-09BC-0C48-AAA4-476A4268C9A9}" type="slidenum">
              <a:rPr lang="fr-FR" smtClean="0">
                <a:latin typeface="Corbel" panose="020B0503020204020204" pitchFamily="34" charset="0"/>
              </a:rPr>
              <a:t>‹#›</a:t>
            </a:fld>
            <a:endParaRPr lang="fr-FR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392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252EF52D-CFFC-FA47-BBAF-74B3994A70AD}" type="datetimeFigureOut">
              <a:rPr lang="fr-FR" smtClean="0"/>
              <a:pPr/>
              <a:t>23/09/2026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170F0992-BC5E-544C-9AC1-207704CC8F4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88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31788" y="696913"/>
            <a:ext cx="6191250" cy="3482975"/>
          </a:xfrm>
          <a:prstGeom prst="rect">
            <a:avLst/>
          </a:prstGeom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15790"/>
            <a:ext cx="5482440" cy="4179354"/>
          </a:xfrm>
          <a:prstGeom prst="rect">
            <a:avLst/>
          </a:prstGeom>
        </p:spPr>
        <p:txBody>
          <a:bodyPr lIns="0" tIns="0" rIns="0" bIns="0"/>
          <a:lstStyle/>
          <a:p>
            <a:pPr marL="216000" indent="-212400">
              <a:lnSpc>
                <a:spcPct val="100000"/>
              </a:lnSpc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702" name="CustomShape 3"/>
          <p:cNvSpPr/>
          <p:nvPr/>
        </p:nvSpPr>
        <p:spPr>
          <a:xfrm>
            <a:off x="3884760" y="8830116"/>
            <a:ext cx="2967840" cy="4607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3136810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CustomShape 1"/>
          <p:cNvSpPr/>
          <p:nvPr/>
        </p:nvSpPr>
        <p:spPr>
          <a:xfrm>
            <a:off x="3884760" y="8685360"/>
            <a:ext cx="2968560" cy="45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1E78A1A4-084D-47EA-A4F8-59293652267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11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89650" cy="3425825"/>
          </a:xfrm>
          <a:prstGeom prst="rect">
            <a:avLst/>
          </a:prstGeom>
        </p:spPr>
      </p:sp>
      <p:sp>
        <p:nvSpPr>
          <p:cNvPr id="111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5960" cy="4111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949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CustomShape 1"/>
          <p:cNvSpPr/>
          <p:nvPr/>
        </p:nvSpPr>
        <p:spPr>
          <a:xfrm>
            <a:off x="3884760" y="8685360"/>
            <a:ext cx="2968560" cy="45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1E78A1A4-084D-47EA-A4F8-59293652267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11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89650" cy="3425825"/>
          </a:xfrm>
          <a:prstGeom prst="rect">
            <a:avLst/>
          </a:prstGeom>
        </p:spPr>
      </p:sp>
      <p:sp>
        <p:nvSpPr>
          <p:cNvPr id="111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5960" cy="4111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CustomShape 1"/>
          <p:cNvSpPr/>
          <p:nvPr/>
        </p:nvSpPr>
        <p:spPr>
          <a:xfrm>
            <a:off x="3884760" y="8685360"/>
            <a:ext cx="2968560" cy="45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1E78A1A4-084D-47EA-A4F8-59293652267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11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89650" cy="3425825"/>
          </a:xfrm>
          <a:prstGeom prst="rect">
            <a:avLst/>
          </a:prstGeom>
        </p:spPr>
      </p:sp>
      <p:sp>
        <p:nvSpPr>
          <p:cNvPr id="111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5960" cy="4111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1076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>
            <a:extLst>
              <a:ext uri="{FF2B5EF4-FFF2-40B4-BE49-F238E27FC236}">
                <a16:creationId xmlns:a16="http://schemas.microsoft.com/office/drawing/2014/main" id="{D6A4036E-D85D-A184-409E-2273352F1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477"/>
          <a:stretch/>
        </p:blipFill>
        <p:spPr>
          <a:xfrm rot="5400000">
            <a:off x="6516289" y="666647"/>
            <a:ext cx="6323119" cy="502830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2" y="3053222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400" b="0" i="0">
                <a:latin typeface="+mj-lt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3568"/>
            <a:ext cx="6817300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+mn-lt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3E26040-493B-53F9-2620-DDFB0901D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3" y="5355033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pic>
        <p:nvPicPr>
          <p:cNvPr id="7" name="Image 8">
            <a:extLst>
              <a:ext uri="{FF2B5EF4-FFF2-40B4-BE49-F238E27FC236}">
                <a16:creationId xmlns:a16="http://schemas.microsoft.com/office/drawing/2014/main" id="{EC5E4898-5706-F441-9C38-D0C7D97D52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472"/>
          <a:stretch/>
        </p:blipFill>
        <p:spPr>
          <a:xfrm rot="10800000" flipV="1">
            <a:off x="5217759" y="1525932"/>
            <a:ext cx="4193535" cy="1492608"/>
          </a:xfrm>
          <a:prstGeom prst="rect">
            <a:avLst/>
          </a:prstGeom>
        </p:spPr>
      </p:pic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53090551-4FA3-8BD4-932A-287498CAB2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2" y="5066270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5" name="Picture 4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1C19E4D0-3074-51FB-06DC-4C49BD099F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55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1027"/>
            <a:ext cx="5685187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Corbel" panose="020B0503020204020204" pitchFamily="34" charset="0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F880213D-89B1-3800-87F3-0045D35E0A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15213" y="0"/>
            <a:ext cx="4776787" cy="6858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6174D3E9-3CB8-1293-F324-12517D2E2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3" y="3052800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GB" sz="4400" b="0" i="0" kern="1200" noProof="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Gill Sans" panose="020B0502020104020203" pitchFamily="34" charset="-79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14BD102C-AA50-9B30-F804-3089D180E7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4" y="5351168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F42A1719-D5FD-C104-F48D-FEF55559DE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3" y="5062405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11" name="Picture 10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6DAA9095-74D9-EEBF-5F10-15053C77C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37F542CB-EF84-68BA-9A50-B6575183E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390113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1DB113ED-E4E6-4F61-AFF2-2D6137F50F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272004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2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8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9A746E69-DEDB-F5B5-CAF6-095827C42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4805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DC2582AC-69EE-6A66-007B-371C19BB5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5676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A9DB7C-CCD5-2762-99F6-9387BFF5EB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BFD76F-4B2D-8AFE-0E41-04FBC8DBB5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819275"/>
            <a:ext cx="10515600" cy="4351338"/>
          </a:xfrm>
        </p:spPr>
        <p:txBody>
          <a:bodyPr/>
          <a:lstStyle>
            <a:lvl2pPr marL="358775" indent="-358775">
              <a:buFontTx/>
              <a:buBlip>
                <a:blip r:embed="rId3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405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4F1E9F87-214B-A780-CA56-3B0F35E5CE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1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1D74064-9855-E307-BE4C-FF1AC6C9FA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2199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4096A7F-17E3-1944-DBB4-18263DE8D9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934A60-C3FD-F1F7-C71C-505AC974F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with em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B310AEF-E302-7CA7-22FA-C063913AC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10" name="Rectangle : coins arrondis 1">
            <a:extLst>
              <a:ext uri="{FF2B5EF4-FFF2-40B4-BE49-F238E27FC236}">
                <a16:creationId xmlns:a16="http://schemas.microsoft.com/office/drawing/2014/main" id="{C518B50C-3518-E963-7EB2-CF27A10646B9}"/>
              </a:ext>
            </a:extLst>
          </p:cNvPr>
          <p:cNvSpPr/>
          <p:nvPr userDrawn="1"/>
        </p:nvSpPr>
        <p:spPr>
          <a:xfrm>
            <a:off x="838200" y="1101600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1" name="Rectangle : coins arrondis 2">
            <a:extLst>
              <a:ext uri="{FF2B5EF4-FFF2-40B4-BE49-F238E27FC236}">
                <a16:creationId xmlns:a16="http://schemas.microsoft.com/office/drawing/2014/main" id="{AF7FFA4B-45D7-B7FA-6B0D-442AB264A084}"/>
              </a:ext>
            </a:extLst>
          </p:cNvPr>
          <p:cNvSpPr/>
          <p:nvPr userDrawn="1"/>
        </p:nvSpPr>
        <p:spPr>
          <a:xfrm>
            <a:off x="6310265" y="1101600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Rectangle : coins arrondis 6">
            <a:extLst>
              <a:ext uri="{FF2B5EF4-FFF2-40B4-BE49-F238E27FC236}">
                <a16:creationId xmlns:a16="http://schemas.microsoft.com/office/drawing/2014/main" id="{DF00A995-522B-4021-102B-BCBD0FD9DCE3}"/>
              </a:ext>
            </a:extLst>
          </p:cNvPr>
          <p:cNvSpPr/>
          <p:nvPr userDrawn="1"/>
        </p:nvSpPr>
        <p:spPr>
          <a:xfrm>
            <a:off x="838200" y="3839175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13" name="Rectangle : coins arrondis 7">
            <a:extLst>
              <a:ext uri="{FF2B5EF4-FFF2-40B4-BE49-F238E27FC236}">
                <a16:creationId xmlns:a16="http://schemas.microsoft.com/office/drawing/2014/main" id="{7816F90A-A539-B087-965E-1578FF34D6E7}"/>
              </a:ext>
            </a:extLst>
          </p:cNvPr>
          <p:cNvSpPr/>
          <p:nvPr userDrawn="1"/>
        </p:nvSpPr>
        <p:spPr>
          <a:xfrm>
            <a:off x="6310265" y="3839175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58C04-A85E-141F-D30C-22896D918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F415C-547B-26E1-70E8-BB6C2005A4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20786" y="1206131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A972A6-C18B-E653-4933-08A90C461B6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2851" y="1206131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EE2428-489D-DF92-9019-A2F54EF7ED2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20786" y="3943706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635DDFA-F6B7-A5DC-0F14-CB6A0C903E2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92851" y="3943706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895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B9D6A197-143B-AEFD-829C-A370B9E48C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2831686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7F1758D-FA39-78AD-05BA-1F0701430B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967957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8AD1FA9F-FAA3-CC60-961C-DDECEC3D8E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342751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EB932D8-947A-D8D7-D24E-FCAC4FA07B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777976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40B52BE3-5107-0A54-7B28-79B3E81F8D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185301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896185D-C189-43C8-56F0-DC714250B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12190F2-119D-1880-693A-C35BB81F9E5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2891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29F137C-E460-9399-CD33-4A2C4360A8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BA3B39-EAE1-433A-6A33-289E6A2626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6873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F0CCA9F-64B1-86D3-B610-B2B226EAA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8" name="Image 5">
            <a:extLst>
              <a:ext uri="{FF2B5EF4-FFF2-40B4-BE49-F238E27FC236}">
                <a16:creationId xmlns:a16="http://schemas.microsoft.com/office/drawing/2014/main" id="{362E6140-FFAE-26F1-DE48-719AB018F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E097653-5197-A0E7-0D0F-5503D8FF9E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3981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364D93-5897-7C43-6A16-6A175307F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A510E9E1-90A9-831D-C2F6-C212AB9CE9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E9BDC3A-E9DB-753C-35A5-4FAB18E7EB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21930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EA09CA-36EE-F3C0-0BBA-9FB96C243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88ACDC-796B-3D38-6C7C-66BA405ADC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1B84487-9C16-DBA9-4F45-D4B5DB2A76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67438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5D891C-6969-239C-3B65-2BC05D1B9A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C751B8-43CB-171F-4934-1C39A27CC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247727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D55CDB6B-0D3D-B6B1-5274-D76EBD678D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0BF0361-23BE-604D-00BB-68E4E829AD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33051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131A041-7A2D-5DF0-312F-374FCDE3D8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08B731-9BD9-0580-0F24-09E82AA023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968145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DB7CC7CD-36EB-30C0-7B63-92EB9A5C87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E255D-7155-3DC1-36A0-05461143B5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437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5">
            <a:extLst>
              <a:ext uri="{FF2B5EF4-FFF2-40B4-BE49-F238E27FC236}">
                <a16:creationId xmlns:a16="http://schemas.microsoft.com/office/drawing/2014/main" id="{A19DB2DF-140E-EF43-5DCB-97E0C30206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0188F5-35F8-C73A-64F2-4F36B578C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7874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A2DAFB6-4120-0157-845E-2198873243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0A31A2BD-9D88-F08D-D109-40987069C7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510015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B28834-2377-2BA6-AA40-B17CFC2B56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2C58EF55-DFB6-1CAE-C474-F8D0E76AF9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67742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408574-C683-1985-6632-7A59AB94C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9110A95F-7C10-1EBE-E254-51B73F31C2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046564C-405C-D92E-9921-39F8C498F1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24F84300-D50C-CC9A-515D-1C7A50D2F4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22090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DFDA38C-E54D-EE2E-3D3D-3473EB2C4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F1162257-C28A-4867-07F4-ED60C0E7A9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D711CD7-613C-60AE-8C72-DA243741090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732CC7-0FDE-D811-EDB1-AB646764A7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421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20E56CA-9C63-7C92-E3C4-6C836C2F2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B61C4734-C773-C156-A090-61CE06CB75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20FF58A-BBC7-12B7-1C2F-482012CE48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42C692-4841-FFF1-E1C0-1752D1F5667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09264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B6083AA-D0FC-9F66-C26A-720F1CB281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6EDCA-745B-8829-5AD1-A11B03FE1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25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7CB0CE7-DE33-88EE-3423-A4C2C7690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39D1BED-4DD7-EE8D-19B6-DD064B0A9D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Rectangle : coins arrondis 7">
            <a:extLst>
              <a:ext uri="{FF2B5EF4-FFF2-40B4-BE49-F238E27FC236}">
                <a16:creationId xmlns:a16="http://schemas.microsoft.com/office/drawing/2014/main" id="{C024A53D-C380-52AE-2506-8FECF914876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F1FC30D3-09BA-9EBC-E24F-AA6E2EAB36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4406" y="2196136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ysClr val="windowText" lastClr="000000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002916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E52BFDE3-65C6-2516-9801-08DE82B1FA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5C4DD-5280-6381-0242-CE01F22BA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954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7C1E8E5C-3149-CFAB-E714-FEC68CD2C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58C21-10BC-317A-A65D-2A6A57ACB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16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91C01C6B-AFA9-4E83-E39B-4B28EDC8DB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1329B1-5601-90DB-DAC1-279A701A2E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8828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39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471EAE6-704C-C3B2-B0BC-CFA343DD3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876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84EE32-F3B8-6076-4095-E8334D9BA78C}"/>
              </a:ext>
            </a:extLst>
          </p:cNvPr>
          <p:cNvSpPr/>
          <p:nvPr userDrawn="1"/>
        </p:nvSpPr>
        <p:spPr>
          <a:xfrm>
            <a:off x="0" y="5284640"/>
            <a:ext cx="12192000" cy="16238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5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062E67-AA0B-A006-FEB6-F218A58AAE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912"/>
          <a:stretch/>
        </p:blipFill>
        <p:spPr>
          <a:xfrm>
            <a:off x="11137315" y="6034572"/>
            <a:ext cx="927686" cy="711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B5F9D4-7747-ADCB-E6C1-49ADA04EA204}"/>
              </a:ext>
            </a:extLst>
          </p:cNvPr>
          <p:cNvSpPr/>
          <p:nvPr userDrawn="1"/>
        </p:nvSpPr>
        <p:spPr>
          <a:xfrm>
            <a:off x="2690526" y="4878538"/>
            <a:ext cx="430924" cy="35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DDB00A-3875-C6F7-B196-88BE08F200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5537693"/>
            <a:ext cx="9144000" cy="558871"/>
          </a:xfrm>
        </p:spPr>
        <p:txBody>
          <a:bodyPr anchor="ctr">
            <a:noAutofit/>
          </a:bodyPr>
          <a:lstStyle>
            <a:lvl1pPr algn="ctr">
              <a:defRPr sz="3200" b="1" i="0"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 dirty="0"/>
              <a:t>Text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115183-FACE-268A-57F0-F265985C2F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6098544"/>
            <a:ext cx="9144000" cy="2918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 spc="3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Sub-title</a:t>
            </a:r>
          </a:p>
        </p:txBody>
      </p:sp>
      <p:pic>
        <p:nvPicPr>
          <p:cNvPr id="13" name="Picture 12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7929F3CA-82E7-6DD2-D615-F777D5A06B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2399" y="6099221"/>
            <a:ext cx="1291994" cy="62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83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81581" y="139604"/>
            <a:ext cx="8348263" cy="739897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</p:spTree>
    <p:extLst>
      <p:ext uri="{BB962C8B-B14F-4D97-AF65-F5344CB8AC3E}">
        <p14:creationId xmlns:p14="http://schemas.microsoft.com/office/powerpoint/2010/main" val="37435883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4882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4674" y="1010137"/>
            <a:ext cx="11142653" cy="49934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tx1">
                  <a:lumMod val="85000"/>
                  <a:lumOff val="15000"/>
                </a:schemeClr>
              </a:buClr>
              <a:buFont typeface="Arial" pitchFamily="34" charset="0"/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  <a:lvl2pPr marL="266700" indent="0">
              <a:buClr>
                <a:schemeClr val="tx1">
                  <a:lumMod val="85000"/>
                  <a:lumOff val="15000"/>
                </a:schemeClr>
              </a:buClr>
              <a:buFont typeface="Arial" pitchFamily="34" charset="0"/>
              <a:buNone/>
              <a:defRPr sz="2000" i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2pPr>
            <a:lvl3pPr marL="449263" indent="0">
              <a:buClr>
                <a:schemeClr val="tx1">
                  <a:lumMod val="85000"/>
                  <a:lumOff val="15000"/>
                </a:schemeClr>
              </a:buClr>
              <a:buNone/>
              <a:defRPr sz="1800" i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3pPr>
            <a:lvl4pPr marL="623887" indent="0">
              <a:buClr>
                <a:schemeClr val="tx1">
                  <a:lumMod val="85000"/>
                  <a:lumOff val="15000"/>
                </a:schemeClr>
              </a:buClr>
              <a:buFont typeface="Arial" pitchFamily="34" charset="0"/>
              <a:buNone/>
              <a:defRPr sz="1600" i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4pPr>
            <a:lvl5pPr marL="1346200" indent="-274638">
              <a:defRPr sz="1200" i="1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4" name="Titre 1"/>
          <p:cNvSpPr>
            <a:spLocks noGrp="1"/>
          </p:cNvSpPr>
          <p:nvPr>
            <p:ph type="ctrTitle"/>
          </p:nvPr>
        </p:nvSpPr>
        <p:spPr>
          <a:xfrm>
            <a:off x="344668" y="344402"/>
            <a:ext cx="10572291" cy="387798"/>
          </a:xfrm>
          <a:prstGeom prst="rect">
            <a:avLst/>
          </a:prstGeom>
        </p:spPr>
        <p:txBody>
          <a:bodyPr wrap="square" lIns="144000" tIns="0" rIns="0" bIns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0" kern="1200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7155398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4674" y="1010137"/>
            <a:ext cx="11142653" cy="4993491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chemeClr val="tx1">
                  <a:lumMod val="85000"/>
                  <a:lumOff val="15000"/>
                </a:schemeClr>
              </a:buClr>
              <a:buFont typeface="Arial" pitchFamily="34" charset="0"/>
              <a:buChar char="•"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  <a:lvl2pPr marL="449263" indent="-182563">
              <a:buClr>
                <a:schemeClr val="tx1">
                  <a:lumMod val="85000"/>
                  <a:lumOff val="15000"/>
                </a:schemeClr>
              </a:buClr>
              <a:buFont typeface="Arial" pitchFamily="34" charset="0"/>
              <a:buChar char="•"/>
              <a:defRPr sz="2000" i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2pPr>
            <a:lvl3pPr marL="623888" indent="-174625">
              <a:buClr>
                <a:schemeClr val="tx1">
                  <a:lumMod val="85000"/>
                  <a:lumOff val="15000"/>
                </a:schemeClr>
              </a:buClr>
              <a:defRPr sz="1800" i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3pPr>
            <a:lvl4pPr marL="806450" indent="-182563">
              <a:buClr>
                <a:schemeClr val="tx1">
                  <a:lumMod val="85000"/>
                  <a:lumOff val="15000"/>
                </a:schemeClr>
              </a:buClr>
              <a:buFont typeface="Arial" pitchFamily="34" charset="0"/>
              <a:buChar char="-"/>
              <a:defRPr sz="1600" i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4pPr>
            <a:lvl5pPr marL="1346200" indent="-274638">
              <a:defRPr sz="1200" i="1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ctrTitle"/>
          </p:nvPr>
        </p:nvSpPr>
        <p:spPr>
          <a:xfrm>
            <a:off x="344668" y="344402"/>
            <a:ext cx="10590904" cy="387798"/>
          </a:xfrm>
          <a:prstGeom prst="rect">
            <a:avLst/>
          </a:prstGeom>
        </p:spPr>
        <p:txBody>
          <a:bodyPr wrap="square" lIns="144000" tIns="0" rIns="0" bIns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800" b="0" kern="1200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3396503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6000" y="2204864"/>
            <a:ext cx="10800000" cy="3240360"/>
          </a:xfrm>
        </p:spPr>
        <p:txBody>
          <a:bodyPr>
            <a:normAutofit/>
          </a:bodyPr>
          <a:lstStyle>
            <a:lvl1pPr algn="ctr">
              <a:defRPr sz="3600"/>
            </a:lvl1pPr>
          </a:lstStyle>
          <a:p>
            <a:r>
              <a:rPr lang="en-GB" noProof="0" dirty="0"/>
              <a:t>Sub-section title</a:t>
            </a:r>
          </a:p>
        </p:txBody>
      </p:sp>
      <p:pic>
        <p:nvPicPr>
          <p:cNvPr id="3" name="Espace réservé pour une image  17" descr="profile-cover-2017.jpg"/>
          <p:cNvPicPr>
            <a:picLocks noChangeAspect="1"/>
          </p:cNvPicPr>
          <p:nvPr userDrawn="1"/>
        </p:nvPicPr>
        <p:blipFill>
          <a:blip r:embed="rId2"/>
          <a:srcRect l="1464" r="1464" b="78647"/>
          <a:stretch>
            <a:fillRect/>
          </a:stretch>
        </p:blipFill>
        <p:spPr>
          <a:xfrm>
            <a:off x="0" y="975601"/>
            <a:ext cx="12192000" cy="839665"/>
          </a:xfrm>
          <a:prstGeom prst="rect">
            <a:avLst/>
          </a:prstGeom>
        </p:spPr>
      </p:pic>
      <p:cxnSp>
        <p:nvCxnSpPr>
          <p:cNvPr id="4" name="Connecteur droit 9"/>
          <p:cNvCxnSpPr/>
          <p:nvPr userDrawn="1"/>
        </p:nvCxnSpPr>
        <p:spPr>
          <a:xfrm>
            <a:off x="0" y="975600"/>
            <a:ext cx="12192000" cy="1588"/>
          </a:xfrm>
          <a:prstGeom prst="line">
            <a:avLst/>
          </a:prstGeom>
          <a:ln w="19050">
            <a:solidFill>
              <a:srgbClr val="E3061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Connecteur droit 10"/>
          <p:cNvCxnSpPr/>
          <p:nvPr userDrawn="1"/>
        </p:nvCxnSpPr>
        <p:spPr>
          <a:xfrm>
            <a:off x="0" y="1818000"/>
            <a:ext cx="12192000" cy="1588"/>
          </a:xfrm>
          <a:prstGeom prst="line">
            <a:avLst/>
          </a:prstGeom>
          <a:ln w="19050">
            <a:solidFill>
              <a:srgbClr val="E3061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92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17" descr="profile-cover-2017.jpg"/>
          <p:cNvPicPr>
            <a:picLocks noChangeAspect="1"/>
          </p:cNvPicPr>
          <p:nvPr userDrawn="1"/>
        </p:nvPicPr>
        <p:blipFill>
          <a:blip r:embed="rId2"/>
          <a:srcRect l="1464" r="1464" b="78647"/>
          <a:stretch>
            <a:fillRect/>
          </a:stretch>
        </p:blipFill>
        <p:spPr>
          <a:xfrm>
            <a:off x="0" y="975601"/>
            <a:ext cx="12192000" cy="839665"/>
          </a:xfrm>
          <a:prstGeom prst="rect">
            <a:avLst/>
          </a:prstGeom>
        </p:spPr>
      </p:pic>
      <p:sp>
        <p:nvSpPr>
          <p:cNvPr id="13" name="Espace réservé du texte 12"/>
          <p:cNvSpPr>
            <a:spLocks noGrp="1"/>
          </p:cNvSpPr>
          <p:nvPr>
            <p:ph type="body" sz="quarter" idx="10" hasCustomPrompt="1"/>
          </p:nvPr>
        </p:nvSpPr>
        <p:spPr>
          <a:xfrm>
            <a:off x="3504000" y="2988000"/>
            <a:ext cx="7680000" cy="720000"/>
          </a:xfrm>
        </p:spPr>
        <p:txBody>
          <a:bodyPr anchor="ctr" anchorCtr="0"/>
          <a:lstStyle>
            <a:lvl1pPr>
              <a:defRPr sz="2000" b="1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Section title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04000" y="3888000"/>
            <a:ext cx="7680000" cy="720000"/>
          </a:xfrm>
        </p:spPr>
        <p:txBody>
          <a:bodyPr anchor="ctr" anchorCtr="0"/>
          <a:lstStyle>
            <a:lvl1pPr>
              <a:defRPr sz="2000" b="1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Section title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04000" y="4786322"/>
            <a:ext cx="7680000" cy="720000"/>
          </a:xfrm>
        </p:spPr>
        <p:txBody>
          <a:bodyPr anchor="ctr" anchorCtr="0"/>
          <a:lstStyle>
            <a:lvl1pPr>
              <a:defRPr sz="2000" b="1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Section title</a:t>
            </a:r>
          </a:p>
        </p:txBody>
      </p:sp>
      <p:sp>
        <p:nvSpPr>
          <p:cNvPr id="16" name="Espace réservé du texte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04000" y="5688000"/>
            <a:ext cx="7680000" cy="720000"/>
          </a:xfrm>
        </p:spPr>
        <p:txBody>
          <a:bodyPr anchor="ctr" anchorCtr="0"/>
          <a:lstStyle>
            <a:lvl1pPr>
              <a:defRPr sz="2000" b="1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Section title</a:t>
            </a:r>
          </a:p>
        </p:txBody>
      </p:sp>
      <p:sp>
        <p:nvSpPr>
          <p:cNvPr id="17" name="Espace réservé du texte 12"/>
          <p:cNvSpPr>
            <a:spLocks noGrp="1"/>
          </p:cNvSpPr>
          <p:nvPr>
            <p:ph type="body" sz="quarter" idx="14" hasCustomPrompt="1"/>
          </p:nvPr>
        </p:nvSpPr>
        <p:spPr>
          <a:xfrm>
            <a:off x="3504000" y="2088000"/>
            <a:ext cx="7680000" cy="720000"/>
          </a:xfrm>
        </p:spPr>
        <p:txBody>
          <a:bodyPr anchor="ctr" anchorCtr="0"/>
          <a:lstStyle>
            <a:lvl1pPr>
              <a:defRPr sz="2000" b="1">
                <a:solidFill>
                  <a:srgbClr val="E30613"/>
                </a:solidFill>
              </a:defRPr>
            </a:lvl1pPr>
          </a:lstStyle>
          <a:p>
            <a:pPr lvl="0"/>
            <a:r>
              <a:rPr lang="en-US" noProof="0" dirty="0"/>
              <a:t>Section title</a:t>
            </a:r>
          </a:p>
        </p:txBody>
      </p:sp>
      <p:cxnSp>
        <p:nvCxnSpPr>
          <p:cNvPr id="10" name="Connecteur droit 9"/>
          <p:cNvCxnSpPr/>
          <p:nvPr userDrawn="1"/>
        </p:nvCxnSpPr>
        <p:spPr>
          <a:xfrm>
            <a:off x="0" y="975600"/>
            <a:ext cx="12192000" cy="1588"/>
          </a:xfrm>
          <a:prstGeom prst="line">
            <a:avLst/>
          </a:prstGeom>
          <a:ln w="19050">
            <a:solidFill>
              <a:srgbClr val="E3061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 userDrawn="1"/>
        </p:nvCxnSpPr>
        <p:spPr>
          <a:xfrm>
            <a:off x="0" y="1818000"/>
            <a:ext cx="12192000" cy="1588"/>
          </a:xfrm>
          <a:prstGeom prst="line">
            <a:avLst/>
          </a:prstGeom>
          <a:ln w="19050">
            <a:solidFill>
              <a:srgbClr val="E3061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itre 1"/>
          <p:cNvSpPr>
            <a:spLocks noGrp="1"/>
          </p:cNvSpPr>
          <p:nvPr>
            <p:ph type="title" hasCustomPrompt="1"/>
          </p:nvPr>
        </p:nvSpPr>
        <p:spPr>
          <a:xfrm>
            <a:off x="672000" y="404665"/>
            <a:ext cx="10800000" cy="480251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230864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2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D52C7C54-A67B-7C6C-795D-7EEC864A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/>
          <a:p>
            <a:r>
              <a:rPr lang="en-GB" noProof="0" dirty="0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E1AC6A1-85F6-E8C4-97DE-B8C5FC3D5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9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1" r:id="rId2"/>
    <p:sldLayoutId id="2147483704" r:id="rId3"/>
    <p:sldLayoutId id="2147483752" r:id="rId4"/>
    <p:sldLayoutId id="2147483705" r:id="rId5"/>
    <p:sldLayoutId id="2147483703" r:id="rId6"/>
    <p:sldLayoutId id="2147483685" r:id="rId7"/>
    <p:sldLayoutId id="2147483751" r:id="rId8"/>
    <p:sldLayoutId id="2147483652" r:id="rId9"/>
    <p:sldLayoutId id="2147483715" r:id="rId10"/>
    <p:sldLayoutId id="2147483717" r:id="rId11"/>
    <p:sldLayoutId id="2147483753" r:id="rId12"/>
    <p:sldLayoutId id="2147483722" r:id="rId13"/>
    <p:sldLayoutId id="2147483734" r:id="rId14"/>
    <p:sldLayoutId id="2147483739" r:id="rId15"/>
    <p:sldLayoutId id="2147483755" r:id="rId16"/>
    <p:sldLayoutId id="2147483754" r:id="rId17"/>
    <p:sldLayoutId id="2147483756" r:id="rId18"/>
    <p:sldLayoutId id="2147483757" r:id="rId19"/>
    <p:sldLayoutId id="2147483758" r:id="rId20"/>
    <p:sldLayoutId id="2147483728" r:id="rId21"/>
    <p:sldLayoutId id="2147483759" r:id="rId22"/>
    <p:sldLayoutId id="2147483729" r:id="rId23"/>
    <p:sldLayoutId id="2147483736" r:id="rId24"/>
    <p:sldLayoutId id="2147483741" r:id="rId25"/>
    <p:sldLayoutId id="2147483761" r:id="rId26"/>
    <p:sldLayoutId id="2147483760" r:id="rId27"/>
    <p:sldLayoutId id="2147483762" r:id="rId28"/>
    <p:sldLayoutId id="2147483763" r:id="rId29"/>
    <p:sldLayoutId id="2147483764" r:id="rId30"/>
    <p:sldLayoutId id="2147483732" r:id="rId31"/>
    <p:sldLayoutId id="2147483765" r:id="rId32"/>
    <p:sldLayoutId id="2147483733" r:id="rId33"/>
    <p:sldLayoutId id="2147483738" r:id="rId34"/>
    <p:sldLayoutId id="2147483743" r:id="rId35"/>
    <p:sldLayoutId id="2147483655" r:id="rId36"/>
    <p:sldLayoutId id="2147483766" r:id="rId37"/>
    <p:sldLayoutId id="2147483767" r:id="rId38"/>
    <p:sldLayoutId id="2147483768" r:id="rId39"/>
    <p:sldLayoutId id="2147483769" r:id="rId40"/>
    <p:sldLayoutId id="2147483770" r:id="rId41"/>
    <p:sldLayoutId id="2147483771" r:id="rId42"/>
    <p:sldLayoutId id="2147483772" r:id="rId4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Verdana" panose="020B0604030504040204" pitchFamily="34" charset="0"/>
          <a:cs typeface="Gill Sans" panose="020B0502020104020203" pitchFamily="34" charset="-79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Arial" panose="020B0604020202020204" pitchFamily="34" charset="0"/>
        <a:buNone/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1pPr>
      <a:lvl2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6"/>
        </a:buBlip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2pPr>
      <a:lvl3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6"/>
        </a:buBlip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3pPr>
      <a:lvl4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4pPr>
      <a:lvl5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b-swiss.github.io/RNAseq-introduction-training/&#8203;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nrg2626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1575-BA47-27AF-7812-F767C893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Introduction to RNA-</a:t>
            </a:r>
            <a:r>
              <a:rPr lang="en-GB" dirty="0" err="1">
                <a:ea typeface="Verdana"/>
                <a:cs typeface="Gill Sans"/>
              </a:rPr>
              <a:t>Seq</a:t>
            </a:r>
            <a:r>
              <a:rPr lang="en-GB" dirty="0">
                <a:ea typeface="Verdana"/>
                <a:cs typeface="Gill Sans"/>
              </a:rPr>
              <a:t>: Overview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0A2170-98B9-D0B4-6CB7-41B92028D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0812" y="5066270"/>
            <a:ext cx="5010149" cy="5687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b="0" dirty="0">
                <a:ea typeface="+mn-lt"/>
                <a:cs typeface="+mn-lt"/>
              </a:rPr>
              <a:t>Wandrille Duchemin</a:t>
            </a:r>
            <a:r>
              <a:rPr lang="en-GB" dirty="0">
                <a:ea typeface="Tahoma"/>
                <a:cs typeface="Gill Sans Light"/>
              </a:rPr>
              <a:t> </a:t>
            </a:r>
            <a:endParaRPr lang="en-GB" dirty="0"/>
          </a:p>
        </p:txBody>
      </p:sp>
      <p:pic>
        <p:nvPicPr>
          <p:cNvPr id="8" name="Picture 7" descr="A red line drawing of a person&#10;&#10;Description automatically generated">
            <a:extLst>
              <a:ext uri="{FF2B5EF4-FFF2-40B4-BE49-F238E27FC236}">
                <a16:creationId xmlns:a16="http://schemas.microsoft.com/office/drawing/2014/main" id="{22F25DA9-24E9-A4F5-6179-91D46B8FDB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0767" y="4037439"/>
            <a:ext cx="994837" cy="9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9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98B7F-3A2C-C90F-0510-E05F5944F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General Information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591EC-0660-097E-8D27-CE8DD10F2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561"/>
              </a:spcBef>
            </a:pPr>
            <a:r>
              <a:rPr lang="en-US" sz="2800">
                <a:solidFill>
                  <a:srgbClr val="262626"/>
                </a:solidFill>
                <a:ea typeface="+mn-lt"/>
                <a:cs typeface="+mn-lt"/>
              </a:rPr>
              <a:t>Course page</a:t>
            </a:r>
            <a:r>
              <a:rPr lang="en-US" sz="2000">
                <a:solidFill>
                  <a:srgbClr val="262626"/>
                </a:solidFill>
                <a:ea typeface="+mn-lt"/>
                <a:cs typeface="+mn-lt"/>
              </a:rPr>
              <a:t>: </a:t>
            </a:r>
            <a:r>
              <a:rPr lang="en-US" sz="2000" dirty="0">
                <a:solidFill>
                  <a:srgbClr val="262626"/>
                </a:solidFill>
                <a:ea typeface="+mn-lt"/>
                <a:cs typeface="+mn-lt"/>
                <a:hlinkClick r:id="rId3"/>
              </a:rPr>
              <a:t>https://sib-swiss.github.io/RNAseq-introduction-training/</a:t>
            </a:r>
            <a:endParaRPr lang="de-CH" sz="2000">
              <a:solidFill>
                <a:srgbClr val="262626"/>
              </a:solidFill>
              <a:ea typeface="+mn-lt"/>
              <a:cs typeface="+mn-lt"/>
            </a:endParaRPr>
          </a:p>
          <a:p>
            <a:pPr lvl="1" indent="-304800">
              <a:lnSpc>
                <a:spcPct val="100000"/>
              </a:lnSpc>
              <a:spcBef>
                <a:spcPts val="479"/>
              </a:spcBef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Slides, Data sets, Exercises, Solutions</a:t>
            </a:r>
            <a:br>
              <a:rPr lang="en-US" sz="1800" dirty="0">
                <a:ea typeface="+mn-lt"/>
                <a:cs typeface="+mn-lt"/>
              </a:rPr>
            </a:br>
            <a:r>
              <a:rPr lang="en-US" dirty="0">
                <a:solidFill>
                  <a:srgbClr val="262626"/>
                </a:solidFill>
                <a:ea typeface="+mn-lt"/>
                <a:cs typeface="+mn-lt"/>
              </a:rPr>
              <a:t> </a:t>
            </a:r>
            <a:endParaRPr lang="en-US" dirty="0"/>
          </a:p>
          <a:p>
            <a:pPr>
              <a:lnSpc>
                <a:spcPct val="100000"/>
              </a:lnSpc>
              <a:spcBef>
                <a:spcPts val="561"/>
              </a:spcBef>
            </a:pPr>
            <a:r>
              <a:rPr lang="en-US" sz="2800" dirty="0">
                <a:solidFill>
                  <a:srgbClr val="262626"/>
                </a:solidFill>
                <a:ea typeface="+mn-lt"/>
                <a:cs typeface="+mn-lt"/>
              </a:rPr>
              <a:t>Optional exam, 0.5 ECTS value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2800" dirty="0">
              <a:solidFill>
                <a:srgbClr val="262626"/>
              </a:solidFill>
              <a:ea typeface="+mn-lt"/>
              <a:cs typeface="+mn-lt"/>
            </a:endParaRP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buChar char="•"/>
            </a:pPr>
            <a:r>
              <a:rPr lang="en-US" sz="2800">
                <a:solidFill>
                  <a:srgbClr val="262626"/>
                </a:solidFill>
                <a:ea typeface="+mn-lt"/>
                <a:cs typeface="+mn-lt"/>
              </a:rPr>
              <a:t>Course from 09:00 to 17:00</a:t>
            </a: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buChar char="•"/>
            </a:pPr>
            <a:r>
              <a:rPr lang="en-US" sz="2800">
                <a:solidFill>
                  <a:srgbClr val="262626"/>
                </a:solidFill>
                <a:ea typeface="+mn-lt"/>
                <a:cs typeface="+mn-lt"/>
              </a:rPr>
              <a:t>Lunch break 12:00 to 13:00</a:t>
            </a: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buChar char="•"/>
            </a:pPr>
            <a:r>
              <a:rPr lang="en-US" sz="2800" dirty="0">
                <a:solidFill>
                  <a:srgbClr val="262626"/>
                </a:solidFill>
                <a:ea typeface="+mn-lt"/>
                <a:cs typeface="+mn-lt"/>
              </a:rPr>
              <a:t>15min breaks around 10:30 and 15:00</a:t>
            </a:r>
          </a:p>
        </p:txBody>
      </p:sp>
      <p:pic>
        <p:nvPicPr>
          <p:cNvPr id="5" name="Image 40" descr="Une image contenant Graphique, Police, capture d’écran, graphisme&#10;&#10;Description générée automatiquement">
            <a:extLst>
              <a:ext uri="{FF2B5EF4-FFF2-40B4-BE49-F238E27FC236}">
                <a16:creationId xmlns:a16="http://schemas.microsoft.com/office/drawing/2014/main" id="{86AE7AE0-45E5-88FA-D12E-01FE8D3E2B9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0513" y="1817911"/>
            <a:ext cx="1329212" cy="104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00129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C90D-317F-9FFD-4B90-A0F3DA34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Asking questions - Communication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7035B-5DD8-6E4D-3CBA-628ED667B9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GB" sz="4000" dirty="0">
                <a:ea typeface="Tahoma"/>
                <a:cs typeface="Gill Sans Light"/>
              </a:rPr>
              <a:t>Raise your hand anytime</a:t>
            </a:r>
            <a:endParaRPr lang="en-US" sz="4000"/>
          </a:p>
          <a:p>
            <a:endParaRPr lang="en-GB" sz="4000" dirty="0"/>
          </a:p>
          <a:p>
            <a:endParaRPr lang="en-GB" sz="4000" dirty="0"/>
          </a:p>
          <a:p>
            <a:endParaRPr lang="en-GB" sz="4000" dirty="0"/>
          </a:p>
          <a:p>
            <a:pPr marL="342900" indent="-342900">
              <a:buChar char="•"/>
            </a:pPr>
            <a:r>
              <a:rPr lang="en-GB" sz="4000" dirty="0">
                <a:ea typeface="Tahoma"/>
                <a:cs typeface="Gill Sans Light"/>
              </a:rPr>
              <a:t>Done with an exercise?</a:t>
            </a:r>
            <a:endParaRPr lang="en-GB" sz="4000" dirty="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4D25B8DE-56F7-4B2D-68EE-5FFB05503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49" y="1610009"/>
            <a:ext cx="1108841" cy="1100082"/>
          </a:xfrm>
          <a:prstGeom prst="rect">
            <a:avLst/>
          </a:prstGeom>
        </p:spPr>
      </p:pic>
      <p:pic>
        <p:nvPicPr>
          <p:cNvPr id="5" name="Picture 4" descr="A picture containing text, businesscard, stationary, envelope&#10;&#10;Description automatically generated">
            <a:extLst>
              <a:ext uri="{FF2B5EF4-FFF2-40B4-BE49-F238E27FC236}">
                <a16:creationId xmlns:a16="http://schemas.microsoft.com/office/drawing/2014/main" id="{5E08B16D-25A5-9E46-3D3D-CBCC62DF7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356" y="1015396"/>
            <a:ext cx="2353003" cy="2200582"/>
          </a:xfrm>
          <a:prstGeom prst="rect">
            <a:avLst/>
          </a:prstGeom>
        </p:spPr>
      </p:pic>
      <p:pic>
        <p:nvPicPr>
          <p:cNvPr id="6" name="Picture 5" descr="A picture containing text, businesscard, envelope, picture frame&#10;&#10;Description automatically generated">
            <a:extLst>
              <a:ext uri="{FF2B5EF4-FFF2-40B4-BE49-F238E27FC236}">
                <a16:creationId xmlns:a16="http://schemas.microsoft.com/office/drawing/2014/main" id="{323572B9-DD38-A8E5-10D1-C513609F7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529" y="4244084"/>
            <a:ext cx="235300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0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Course Outline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 indent="0">
              <a:buNone/>
            </a:pPr>
            <a:r>
              <a:rPr lang="en-GB" dirty="0">
                <a:ea typeface="Tahoma"/>
                <a:cs typeface="Gill Sans Light"/>
              </a:rPr>
              <a:t>Day 1</a:t>
            </a:r>
          </a:p>
          <a:p>
            <a:pPr marL="815975" lvl="1" indent="-457200">
              <a:buAutoNum type="arabicPeriod"/>
            </a:pPr>
            <a:r>
              <a:rPr lang="en-GB" b="1">
                <a:ea typeface="Tahoma"/>
                <a:cs typeface="Gill Sans Light"/>
              </a:rPr>
              <a:t>Overview </a:t>
            </a:r>
            <a:r>
              <a:rPr lang="en-GB">
                <a:ea typeface="Tahoma"/>
                <a:cs typeface="Gill Sans Light"/>
              </a:rPr>
              <a:t>of RNAseq </a:t>
            </a:r>
            <a:endParaRPr lang="en-GB" b="1">
              <a:ea typeface="Tahoma"/>
              <a:cs typeface="Gill Sans Light"/>
            </a:endParaRPr>
          </a:p>
          <a:p>
            <a:pPr marL="815975" lvl="1" indent="-457200">
              <a:buAutoNum type="arabicPeriod"/>
            </a:pPr>
            <a:r>
              <a:rPr lang="en-GB" dirty="0">
                <a:ea typeface="Tahoma"/>
                <a:cs typeface="Gill Sans Light"/>
              </a:rPr>
              <a:t>Getting started with the </a:t>
            </a:r>
            <a:r>
              <a:rPr lang="en-GB" b="1">
                <a:ea typeface="Tahoma"/>
                <a:cs typeface="Gill Sans Light"/>
              </a:rPr>
              <a:t>cluster</a:t>
            </a:r>
          </a:p>
          <a:p>
            <a:pPr marL="815975" lvl="1" indent="-457200">
              <a:buAutoNum type="arabicPeriod"/>
            </a:pPr>
            <a:r>
              <a:rPr lang="en-GB" b="1">
                <a:ea typeface="Tahoma"/>
                <a:cs typeface="Gill Sans Light"/>
              </a:rPr>
              <a:t>Quality Control </a:t>
            </a:r>
            <a:r>
              <a:rPr lang="en-GB">
                <a:ea typeface="Tahoma"/>
                <a:cs typeface="Gill Sans Light"/>
              </a:rPr>
              <a:t>of the raw data</a:t>
            </a:r>
          </a:p>
          <a:p>
            <a:pPr marL="815975" lvl="1" indent="-457200">
              <a:buAutoNum type="arabicPeriod"/>
            </a:pPr>
            <a:r>
              <a:rPr lang="en-GB">
                <a:ea typeface="Tahoma"/>
                <a:cs typeface="Gill Sans Light"/>
              </a:rPr>
              <a:t>Sequence </a:t>
            </a:r>
            <a:r>
              <a:rPr lang="en-GB" b="1">
                <a:ea typeface="Tahoma"/>
                <a:cs typeface="Gill Sans Light"/>
              </a:rPr>
              <a:t>trimming </a:t>
            </a:r>
            <a:endParaRPr lang="en-GB" b="1"/>
          </a:p>
          <a:p>
            <a:pPr lvl="1" indent="0">
              <a:buNone/>
            </a:pPr>
            <a:endParaRPr lang="en-GB" dirty="0"/>
          </a:p>
          <a:p>
            <a:pPr lvl="1" indent="0">
              <a:buNone/>
            </a:pPr>
            <a:r>
              <a:rPr lang="en-GB" dirty="0">
                <a:ea typeface="Tahoma"/>
                <a:cs typeface="Gill Sans Light"/>
              </a:rPr>
              <a:t>Day 2</a:t>
            </a:r>
          </a:p>
          <a:p>
            <a:pPr marL="815975" lvl="1" indent="-457200">
              <a:buAutoNum type="arabicPeriod"/>
            </a:pPr>
            <a:r>
              <a:rPr lang="en-GB">
                <a:ea typeface="Tahoma"/>
                <a:cs typeface="Gill Sans Light"/>
              </a:rPr>
              <a:t>Reas </a:t>
            </a:r>
            <a:r>
              <a:rPr lang="en-GB" b="1">
                <a:ea typeface="Tahoma"/>
                <a:cs typeface="Gill Sans Light"/>
              </a:rPr>
              <a:t>mapping</a:t>
            </a:r>
          </a:p>
          <a:p>
            <a:pPr marL="815975" lvl="1" indent="-457200">
              <a:buAutoNum type="arabicPeriod"/>
            </a:pPr>
            <a:r>
              <a:rPr lang="en-GB" b="1">
                <a:ea typeface="Tahoma"/>
                <a:cs typeface="Gill Sans Light"/>
              </a:rPr>
              <a:t>Differential Expression</a:t>
            </a:r>
            <a:r>
              <a:rPr lang="en-GB">
                <a:ea typeface="Tahoma"/>
                <a:cs typeface="Gill Sans Light"/>
              </a:rPr>
              <a:t> Inference</a:t>
            </a:r>
            <a:endParaRPr lang="en-GB"/>
          </a:p>
          <a:p>
            <a:pPr marL="815975" lvl="1" indent="-457200">
              <a:buAutoNum type="arabicPeriod"/>
            </a:pPr>
            <a:r>
              <a:rPr lang="en-GB">
                <a:ea typeface="Tahoma"/>
                <a:cs typeface="Gill Sans Light"/>
              </a:rPr>
              <a:t>Enrichment Analysis</a:t>
            </a:r>
          </a:p>
        </p:txBody>
      </p:sp>
    </p:spTree>
    <p:extLst>
      <p:ext uri="{BB962C8B-B14F-4D97-AF65-F5344CB8AC3E}">
        <p14:creationId xmlns:p14="http://schemas.microsoft.com/office/powerpoint/2010/main" val="3863561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slides Outline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815975" lvl="1" indent="-457200">
              <a:buFont typeface="Arial"/>
              <a:buChar char="•"/>
            </a:pPr>
            <a:r>
              <a:rPr lang="en-GB">
                <a:ea typeface="Tahoma"/>
                <a:cs typeface="Gill Sans Light"/>
              </a:rPr>
              <a:t>RNA and molecular biology</a:t>
            </a:r>
            <a:endParaRPr lang="en-GB"/>
          </a:p>
          <a:p>
            <a:pPr marL="815975" lvl="1" indent="-457200">
              <a:buFont typeface="Arial"/>
              <a:buChar char="•"/>
            </a:pPr>
            <a:r>
              <a:rPr lang="en-GB">
                <a:ea typeface="Tahoma"/>
                <a:cs typeface="Gill Sans Light"/>
              </a:rPr>
              <a:t>Main challenges for RNAseq</a:t>
            </a:r>
          </a:p>
          <a:p>
            <a:pPr marL="815975" lvl="1" indent="-457200">
              <a:buFont typeface="Arial"/>
              <a:buChar char="•"/>
            </a:pPr>
            <a:r>
              <a:rPr lang="en-GB">
                <a:ea typeface="Tahoma"/>
                <a:cs typeface="Gill Sans Light"/>
              </a:rPr>
              <a:t>Major Sequencing technologies</a:t>
            </a:r>
          </a:p>
          <a:p>
            <a:pPr marL="815975" lvl="1" indent="-457200">
              <a:buFont typeface="Arial"/>
              <a:buChar char="•"/>
            </a:pPr>
            <a:r>
              <a:rPr lang="en-GB">
                <a:ea typeface="Tahoma"/>
                <a:cs typeface="Gill Sans Light"/>
              </a:rPr>
              <a:t>Planning your sequencing : choices, number of samples, …</a:t>
            </a:r>
            <a:endParaRPr lang="en-GB"/>
          </a:p>
          <a:p>
            <a:pPr marL="815975" lvl="1" indent="-457200">
              <a:buFont typeface="Arial"/>
              <a:buChar char="•"/>
            </a:pPr>
            <a:r>
              <a:rPr lang="en-GB">
                <a:ea typeface="Tahoma"/>
                <a:cs typeface="Gill Sans Light"/>
              </a:rPr>
              <a:t>Bioinformatics analysis overview</a:t>
            </a:r>
            <a:endParaRPr lang="en-GB"/>
          </a:p>
          <a:p>
            <a:pPr lvl="1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05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E08FD-7424-0010-8E8A-4B125279A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>
                <a:ea typeface="Verdana"/>
                <a:cs typeface="Gill Sans"/>
              </a:rPr>
              <a:t>Introducing Ourselves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3967256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1"/>
          <p:cNvPicPr/>
          <p:nvPr/>
        </p:nvPicPr>
        <p:blipFill>
          <a:blip r:embed="rId3"/>
          <a:stretch/>
        </p:blipFill>
        <p:spPr>
          <a:xfrm>
            <a:off x="1524000" y="37080"/>
            <a:ext cx="9140760" cy="6768720"/>
          </a:xfrm>
          <a:prstGeom prst="rect">
            <a:avLst/>
          </a:prstGeom>
          <a:ln>
            <a:noFill/>
          </a:ln>
        </p:spPr>
      </p:pic>
      <p:sp>
        <p:nvSpPr>
          <p:cNvPr id="220" name="CustomShape 1"/>
          <p:cNvSpPr/>
          <p:nvPr/>
        </p:nvSpPr>
        <p:spPr>
          <a:xfrm>
            <a:off x="7176000" y="976680"/>
            <a:ext cx="3453120" cy="129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DejaVu Sans"/>
              </a:rPr>
              <a:t>Nucleic acids everywhere</a:t>
            </a:r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0995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1"/>
          <p:cNvPicPr/>
          <p:nvPr/>
        </p:nvPicPr>
        <p:blipFill>
          <a:blip r:embed="rId3"/>
          <a:stretch/>
        </p:blipFill>
        <p:spPr>
          <a:xfrm>
            <a:off x="1524000" y="37080"/>
            <a:ext cx="9140760" cy="6768720"/>
          </a:xfrm>
          <a:prstGeom prst="rect">
            <a:avLst/>
          </a:prstGeom>
          <a:ln>
            <a:noFill/>
          </a:ln>
        </p:spPr>
      </p:pic>
      <p:sp>
        <p:nvSpPr>
          <p:cNvPr id="220" name="CustomShape 1"/>
          <p:cNvSpPr/>
          <p:nvPr/>
        </p:nvSpPr>
        <p:spPr>
          <a:xfrm>
            <a:off x="7176000" y="976680"/>
            <a:ext cx="3453120" cy="129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DejaVu Sans"/>
              </a:rPr>
              <a:t>Nucleic acids everywhere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5" name="Arrow: Circular 4">
            <a:extLst>
              <a:ext uri="{FF2B5EF4-FFF2-40B4-BE49-F238E27FC236}">
                <a16:creationId xmlns:a16="http://schemas.microsoft.com/office/drawing/2014/main" id="{65380E27-2FB6-CE18-37E7-87DF7D619541}"/>
              </a:ext>
            </a:extLst>
          </p:cNvPr>
          <p:cNvSpPr/>
          <p:nvPr/>
        </p:nvSpPr>
        <p:spPr>
          <a:xfrm>
            <a:off x="1999949" y="2078556"/>
            <a:ext cx="987372" cy="1094949"/>
          </a:xfrm>
          <a:prstGeom prst="circular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row: Circular 5">
            <a:extLst>
              <a:ext uri="{FF2B5EF4-FFF2-40B4-BE49-F238E27FC236}">
                <a16:creationId xmlns:a16="http://schemas.microsoft.com/office/drawing/2014/main" id="{33AAC19E-1AE5-6787-F58E-2611F0BE0918}"/>
              </a:ext>
            </a:extLst>
          </p:cNvPr>
          <p:cNvSpPr/>
          <p:nvPr/>
        </p:nvSpPr>
        <p:spPr>
          <a:xfrm>
            <a:off x="2143384" y="4938297"/>
            <a:ext cx="987372" cy="1094949"/>
          </a:xfrm>
          <a:prstGeom prst="circular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F9440A98-92EB-1973-1255-3F68ACBECF25}"/>
              </a:ext>
            </a:extLst>
          </p:cNvPr>
          <p:cNvSpPr/>
          <p:nvPr/>
        </p:nvSpPr>
        <p:spPr>
          <a:xfrm>
            <a:off x="2247070" y="3089395"/>
            <a:ext cx="484632" cy="1847984"/>
          </a:xfrm>
          <a:prstGeom prst="up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62D09D5D-BD58-1591-E35A-302668BF7C8B}"/>
              </a:ext>
            </a:extLst>
          </p:cNvPr>
          <p:cNvSpPr/>
          <p:nvPr/>
        </p:nvSpPr>
        <p:spPr>
          <a:xfrm>
            <a:off x="2247070" y="973723"/>
            <a:ext cx="493596" cy="1103914"/>
          </a:xfrm>
          <a:prstGeom prst="up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7C82E6B0-032B-77A5-E5CA-684A663679F5}"/>
              </a:ext>
            </a:extLst>
          </p:cNvPr>
          <p:cNvSpPr/>
          <p:nvPr/>
        </p:nvSpPr>
        <p:spPr>
          <a:xfrm>
            <a:off x="1520928" y="973724"/>
            <a:ext cx="475668" cy="3963654"/>
          </a:xfrm>
          <a:prstGeom prst="up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na sequence&#10;&#10;Description automatically generated">
            <a:extLst>
              <a:ext uri="{FF2B5EF4-FFF2-40B4-BE49-F238E27FC236}">
                <a16:creationId xmlns:a16="http://schemas.microsoft.com/office/drawing/2014/main" id="{F5F7F2E6-580E-30C7-F383-629771887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240" y="1180592"/>
            <a:ext cx="8757920" cy="42021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alternative splicing adds a layer of complexity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421640" y="1250315"/>
            <a:ext cx="425704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indent="0">
              <a:buNone/>
            </a:pPr>
            <a:r>
              <a:rPr lang="en-GB">
                <a:ea typeface="Tahoma"/>
                <a:cs typeface="Gill Sans Light"/>
              </a:rPr>
              <a:t>~20'000 mammalian genes</a:t>
            </a:r>
            <a:endParaRPr lang="en-GB"/>
          </a:p>
          <a:p>
            <a:pPr lvl="1" indent="0">
              <a:buNone/>
            </a:pPr>
            <a:endParaRPr lang="en-GB" dirty="0"/>
          </a:p>
          <a:p>
            <a:pPr lvl="1" indent="0">
              <a:buNone/>
            </a:pPr>
            <a:endParaRPr lang="en-GB">
              <a:ea typeface="+mn-lt"/>
              <a:cs typeface="+mn-lt"/>
            </a:endParaRPr>
          </a:p>
          <a:p>
            <a:pPr lvl="1" indent="0">
              <a:buNone/>
            </a:pPr>
            <a:endParaRPr lang="en-GB">
              <a:ea typeface="+mn-lt"/>
              <a:cs typeface="+mn-lt"/>
            </a:endParaRPr>
          </a:p>
          <a:p>
            <a:pPr lvl="1" indent="0">
              <a:buNone/>
            </a:pPr>
            <a:endParaRPr lang="en-GB">
              <a:ea typeface="+mn-lt"/>
              <a:cs typeface="+mn-lt"/>
            </a:endParaRPr>
          </a:p>
          <a:p>
            <a:pPr lvl="1" indent="0">
              <a:buNone/>
            </a:pPr>
            <a:r>
              <a:rPr lang="en-GB">
                <a:ea typeface="+mn-lt"/>
                <a:cs typeface="+mn-lt"/>
              </a:rPr>
              <a:t>&gt;&gt;100'000 (?) transcripts</a:t>
            </a:r>
            <a:endParaRPr lang="en-GB"/>
          </a:p>
          <a:p>
            <a:pPr lvl="1" indent="0">
              <a:buNone/>
            </a:pPr>
            <a:endParaRPr lang="en-GB">
              <a:ea typeface="+mn-lt"/>
              <a:cs typeface="+mn-lt"/>
            </a:endParaRPr>
          </a:p>
          <a:p>
            <a:pPr lvl="1" indent="0">
              <a:buNone/>
            </a:pPr>
            <a:endParaRPr lang="en-GB" dirty="0"/>
          </a:p>
          <a:p>
            <a:pPr lvl="1" indent="0">
              <a:buNone/>
            </a:pPr>
            <a:r>
              <a:rPr lang="en-GB">
                <a:ea typeface="Tahoma"/>
                <a:cs typeface="Gill Sans Light"/>
              </a:rPr>
              <a:t>&gt;&gt;1'000'000 (?) proteins</a:t>
            </a:r>
            <a:endParaRPr lang="en-GB"/>
          </a:p>
        </p:txBody>
      </p:sp>
      <p:sp>
        <p:nvSpPr>
          <p:cNvPr id="6" name="CustomShape 12">
            <a:extLst>
              <a:ext uri="{FF2B5EF4-FFF2-40B4-BE49-F238E27FC236}">
                <a16:creationId xmlns:a16="http://schemas.microsoft.com/office/drawing/2014/main" id="{440DCC17-CE0B-53A0-306E-AD7540934C60}"/>
              </a:ext>
            </a:extLst>
          </p:cNvPr>
          <p:cNvSpPr/>
          <p:nvPr/>
        </p:nvSpPr>
        <p:spPr>
          <a:xfrm>
            <a:off x="9251040" y="5751120"/>
            <a:ext cx="3183480" cy="17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" spc="-1" dirty="0">
                <a:solidFill>
                  <a:srgbClr val="323232"/>
                </a:solidFill>
                <a:latin typeface="Arial"/>
                <a:ea typeface="DejaVu Sans"/>
              </a:rPr>
              <a:t>Image credit: National Human Genome Research Institute – public domain</a:t>
            </a:r>
            <a:endParaRPr lang="en-US" sz="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1341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1"/>
          <p:cNvPicPr/>
          <p:nvPr/>
        </p:nvPicPr>
        <p:blipFill>
          <a:blip r:embed="rId3"/>
          <a:stretch/>
        </p:blipFill>
        <p:spPr>
          <a:xfrm>
            <a:off x="1524000" y="37080"/>
            <a:ext cx="9140760" cy="6768720"/>
          </a:xfrm>
          <a:prstGeom prst="rect">
            <a:avLst/>
          </a:prstGeom>
          <a:ln>
            <a:noFill/>
          </a:ln>
        </p:spPr>
      </p:pic>
      <p:sp>
        <p:nvSpPr>
          <p:cNvPr id="220" name="CustomShape 1"/>
          <p:cNvSpPr/>
          <p:nvPr/>
        </p:nvSpPr>
        <p:spPr>
          <a:xfrm>
            <a:off x="7176000" y="976680"/>
            <a:ext cx="3453120" cy="129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FFFFFF"/>
                </a:solidFill>
                <a:latin typeface="Arial"/>
                <a:ea typeface="DejaVu Sans"/>
              </a:rPr>
              <a:t>Nucleic acids everywhere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5" name="Arrow: Circular 4">
            <a:extLst>
              <a:ext uri="{FF2B5EF4-FFF2-40B4-BE49-F238E27FC236}">
                <a16:creationId xmlns:a16="http://schemas.microsoft.com/office/drawing/2014/main" id="{65380E27-2FB6-CE18-37E7-87DF7D619541}"/>
              </a:ext>
            </a:extLst>
          </p:cNvPr>
          <p:cNvSpPr/>
          <p:nvPr/>
        </p:nvSpPr>
        <p:spPr>
          <a:xfrm>
            <a:off x="1999949" y="2078556"/>
            <a:ext cx="987372" cy="1094949"/>
          </a:xfrm>
          <a:prstGeom prst="circular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row: Circular 5">
            <a:extLst>
              <a:ext uri="{FF2B5EF4-FFF2-40B4-BE49-F238E27FC236}">
                <a16:creationId xmlns:a16="http://schemas.microsoft.com/office/drawing/2014/main" id="{33AAC19E-1AE5-6787-F58E-2611F0BE0918}"/>
              </a:ext>
            </a:extLst>
          </p:cNvPr>
          <p:cNvSpPr/>
          <p:nvPr/>
        </p:nvSpPr>
        <p:spPr>
          <a:xfrm>
            <a:off x="2143384" y="4938297"/>
            <a:ext cx="987372" cy="1094949"/>
          </a:xfrm>
          <a:prstGeom prst="circular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F9440A98-92EB-1973-1255-3F68ACBECF25}"/>
              </a:ext>
            </a:extLst>
          </p:cNvPr>
          <p:cNvSpPr/>
          <p:nvPr/>
        </p:nvSpPr>
        <p:spPr>
          <a:xfrm>
            <a:off x="2247070" y="3089395"/>
            <a:ext cx="484632" cy="1847984"/>
          </a:xfrm>
          <a:prstGeom prst="up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62D09D5D-BD58-1591-E35A-302668BF7C8B}"/>
              </a:ext>
            </a:extLst>
          </p:cNvPr>
          <p:cNvSpPr/>
          <p:nvPr/>
        </p:nvSpPr>
        <p:spPr>
          <a:xfrm>
            <a:off x="2247070" y="973723"/>
            <a:ext cx="493596" cy="1103914"/>
          </a:xfrm>
          <a:prstGeom prst="up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7C82E6B0-032B-77A5-E5CA-684A663679F5}"/>
              </a:ext>
            </a:extLst>
          </p:cNvPr>
          <p:cNvSpPr/>
          <p:nvPr/>
        </p:nvSpPr>
        <p:spPr>
          <a:xfrm>
            <a:off x="1520928" y="973724"/>
            <a:ext cx="475668" cy="3963654"/>
          </a:xfrm>
          <a:prstGeom prst="up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D8044-4976-BC64-1559-F3CB4A845AE6}"/>
              </a:ext>
            </a:extLst>
          </p:cNvPr>
          <p:cNvSpPr txBox="1"/>
          <p:nvPr/>
        </p:nvSpPr>
        <p:spPr>
          <a:xfrm>
            <a:off x="5773271" y="2079812"/>
            <a:ext cx="4061011" cy="193899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b="1" dirty="0"/>
              <a:t>mRNA levels</a:t>
            </a:r>
            <a:r>
              <a:rPr lang="en-GB" sz="4000" dirty="0"/>
              <a:t> :</a:t>
            </a:r>
            <a:r>
              <a:rPr lang="en-US" sz="4000" dirty="0"/>
              <a:t>​</a:t>
            </a:r>
          </a:p>
          <a:p>
            <a:r>
              <a:rPr lang="en-GB" sz="4000" dirty="0"/>
              <a:t>a proxy of a proxy​</a:t>
            </a:r>
          </a:p>
          <a:p>
            <a:r>
              <a:rPr lang="en-GB" sz="4000" dirty="0"/>
              <a:t>of cell physiology</a:t>
            </a:r>
            <a:r>
              <a:rPr lang="en-US" sz="40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420678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What (and why) are we sequencing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lvl="1" indent="0">
              <a:buNone/>
            </a:pPr>
            <a:r>
              <a:rPr lang="en-GB">
                <a:ea typeface="Tahoma"/>
                <a:cs typeface="Gill Sans Light"/>
              </a:rPr>
              <a:t>Genomics</a:t>
            </a:r>
            <a:endParaRPr lang="en-US"/>
          </a:p>
          <a:p>
            <a:pPr marL="815975" lvl="1" indent="-457200">
              <a:buFont typeface="Arial"/>
              <a:buChar char="•"/>
            </a:pPr>
            <a:r>
              <a:rPr lang="en-US">
                <a:ea typeface="Tahoma"/>
                <a:cs typeface="Gill Sans Light"/>
              </a:rPr>
              <a:t>Whole genome/exome sequencing (WGS/WES)</a:t>
            </a:r>
            <a:endParaRPr lang="en-US"/>
          </a:p>
          <a:p>
            <a:pPr marL="815975" lvl="1" indent="-457200">
              <a:buFont typeface="Arial"/>
              <a:buChar char="•"/>
            </a:pPr>
            <a:r>
              <a:rPr lang="en-US">
                <a:ea typeface="Tahoma"/>
                <a:cs typeface="Gill Sans Light"/>
              </a:rPr>
              <a:t>Variant calling (SNPs, CNVs, structural variations)</a:t>
            </a:r>
          </a:p>
          <a:p>
            <a:pPr marL="815975" lvl="1" indent="-457200">
              <a:buFont typeface="Arial"/>
              <a:buChar char="•"/>
            </a:pPr>
            <a:endParaRPr lang="en-US">
              <a:ea typeface="Tahoma"/>
              <a:cs typeface="Gill Sans Light"/>
            </a:endParaRPr>
          </a:p>
          <a:p>
            <a:pPr lvl="1" indent="0">
              <a:buNone/>
            </a:pPr>
            <a:r>
              <a:rPr lang="en-US">
                <a:ea typeface="Tahoma"/>
                <a:cs typeface="Gill Sans Light"/>
              </a:rPr>
              <a:t>Epigenomics</a:t>
            </a:r>
          </a:p>
          <a:p>
            <a:pPr marL="815975" lvl="1" indent="-457200">
              <a:buFont typeface="Arial"/>
              <a:buChar char="•"/>
            </a:pPr>
            <a:r>
              <a:rPr lang="en-US" err="1">
                <a:ea typeface="Tahoma"/>
                <a:cs typeface="Gill Sans Light"/>
              </a:rPr>
              <a:t>Bisulphite</a:t>
            </a:r>
            <a:r>
              <a:rPr lang="en-US">
                <a:ea typeface="Tahoma"/>
                <a:cs typeface="Gill Sans Light"/>
              </a:rPr>
              <a:t> sequencing : DNA methylation</a:t>
            </a:r>
          </a:p>
          <a:p>
            <a:pPr marL="815975" lvl="1" indent="-457200">
              <a:buFont typeface="Arial"/>
              <a:buChar char="•"/>
            </a:pPr>
            <a:r>
              <a:rPr lang="en-US">
                <a:ea typeface="Tahoma"/>
                <a:cs typeface="Gill Sans Light"/>
              </a:rPr>
              <a:t>ATAC-Seq : chromatine opening</a:t>
            </a:r>
          </a:p>
          <a:p>
            <a:pPr marL="815975" lvl="1" indent="-457200">
              <a:buFont typeface="Arial"/>
              <a:buChar char="•"/>
            </a:pPr>
            <a:r>
              <a:rPr lang="en-US" err="1">
                <a:ea typeface="Tahoma"/>
                <a:cs typeface="Gill Sans Light"/>
              </a:rPr>
              <a:t>ChIP</a:t>
            </a:r>
            <a:r>
              <a:rPr lang="en-US">
                <a:ea typeface="Tahoma"/>
                <a:cs typeface="Gill Sans Light"/>
              </a:rPr>
              <a:t>-seq : TF binding sites</a:t>
            </a:r>
          </a:p>
          <a:p>
            <a:pPr marL="815975" lvl="1" indent="-457200">
              <a:buFont typeface="Arial"/>
              <a:buChar char="•"/>
            </a:pPr>
            <a:endParaRPr lang="en-US" dirty="0">
              <a:ea typeface="Tahoma"/>
              <a:cs typeface="Gill Sans Light"/>
            </a:endParaRPr>
          </a:p>
          <a:p>
            <a:pPr lvl="1" indent="0">
              <a:buNone/>
            </a:pPr>
            <a:r>
              <a:rPr lang="en-US">
                <a:ea typeface="Tahoma"/>
                <a:cs typeface="Gill Sans Light"/>
              </a:rPr>
              <a:t>Transcriptomics</a:t>
            </a:r>
          </a:p>
          <a:p>
            <a:pPr marL="815975" lvl="1" indent="-457200">
              <a:buFont typeface="Arial"/>
              <a:buChar char="•"/>
            </a:pPr>
            <a:r>
              <a:rPr lang="en-US">
                <a:ea typeface="Tahoma"/>
                <a:cs typeface="Gill Sans Light"/>
              </a:rPr>
              <a:t>Total RNA</a:t>
            </a:r>
          </a:p>
          <a:p>
            <a:pPr marL="815975" lvl="1" indent="-457200">
              <a:buFont typeface="Arial"/>
              <a:buChar char="•"/>
            </a:pPr>
            <a:r>
              <a:rPr lang="en-US">
                <a:ea typeface="Tahoma"/>
                <a:cs typeface="Gill Sans Light"/>
              </a:rPr>
              <a:t>Poly-A tail selection : focus on mRNA</a:t>
            </a:r>
          </a:p>
          <a:p>
            <a:pPr marL="815975" lvl="1" indent="-457200">
              <a:buFont typeface="Arial"/>
              <a:buChar char="•"/>
            </a:pPr>
            <a:r>
              <a:rPr lang="en-US">
                <a:ea typeface="Tahoma"/>
                <a:cs typeface="Gill Sans Light"/>
              </a:rPr>
              <a:t>Ribo depletion: mRNA + ncRNA</a:t>
            </a:r>
          </a:p>
          <a:p>
            <a:pPr marL="815975" lvl="1" indent="-457200">
              <a:buFont typeface="Arial"/>
              <a:buChar char="•"/>
            </a:pPr>
            <a:r>
              <a:rPr lang="en-US">
                <a:ea typeface="Tahoma"/>
                <a:cs typeface="Gill Sans Light"/>
              </a:rPr>
              <a:t>5'/3' RACE seq : isoform characterization for one gene</a:t>
            </a:r>
          </a:p>
          <a:p>
            <a:pPr marL="815975" lvl="1" indent="-457200">
              <a:buFont typeface="Arial"/>
              <a:buChar char="•"/>
            </a:pPr>
            <a:r>
              <a:rPr lang="en-US">
                <a:ea typeface="Tahoma"/>
                <a:cs typeface="Gill Sans Light"/>
              </a:rPr>
              <a:t>scRNAseq</a:t>
            </a:r>
          </a:p>
          <a:p>
            <a:pPr marL="815975" lvl="1" indent="-457200">
              <a:buFont typeface="Arial"/>
              <a:buChar char="•"/>
            </a:pPr>
            <a:r>
              <a:rPr lang="en-US">
                <a:ea typeface="Tahoma"/>
                <a:cs typeface="Gill Sans Light"/>
              </a:rPr>
              <a:t>Long read RNA sequencing</a:t>
            </a:r>
          </a:p>
          <a:p>
            <a:pPr marL="815975" lvl="1" indent="-457200">
              <a:buFont typeface="Arial"/>
              <a:buChar char="•"/>
            </a:pPr>
            <a:r>
              <a:rPr lang="en-US">
                <a:ea typeface="Tahoma"/>
                <a:cs typeface="Gill Sans Light"/>
              </a:rPr>
              <a:t>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2972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What (and why) are we sequencing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lvl="1" indent="0">
              <a:buNone/>
            </a:pPr>
            <a:r>
              <a:rPr lang="en-GB" dirty="0">
                <a:ea typeface="Tahoma"/>
                <a:cs typeface="Gill Sans Light"/>
              </a:rPr>
              <a:t>Genomics</a:t>
            </a:r>
            <a:endParaRPr lang="en-US" dirty="0"/>
          </a:p>
          <a:p>
            <a:pPr marL="815975" lvl="1" indent="-457200">
              <a:buFont typeface="Arial"/>
              <a:buChar char="•"/>
            </a:pPr>
            <a:r>
              <a:rPr lang="en-US" dirty="0">
                <a:ea typeface="Tahoma"/>
                <a:cs typeface="Gill Sans Light"/>
              </a:rPr>
              <a:t>Whole genome/exome sequencing (WGS/WES)</a:t>
            </a:r>
            <a:endParaRPr lang="en-US" dirty="0"/>
          </a:p>
          <a:p>
            <a:pPr marL="815975" lvl="1" indent="-457200">
              <a:buFont typeface="Arial"/>
              <a:buChar char="•"/>
            </a:pPr>
            <a:r>
              <a:rPr lang="en-US" dirty="0">
                <a:ea typeface="Tahoma"/>
                <a:cs typeface="Gill Sans Light"/>
              </a:rPr>
              <a:t>Variant calling (SNPs, CNVs, </a:t>
            </a:r>
            <a:r>
              <a:rPr lang="en-US">
                <a:ea typeface="Tahoma"/>
                <a:cs typeface="Gill Sans Light"/>
              </a:rPr>
              <a:t>structural</a:t>
            </a:r>
            <a:r>
              <a:rPr lang="en-US" dirty="0">
                <a:ea typeface="Tahoma"/>
                <a:cs typeface="Gill Sans Light"/>
              </a:rPr>
              <a:t> variations)</a:t>
            </a:r>
          </a:p>
          <a:p>
            <a:pPr marL="815975" lvl="1" indent="-457200">
              <a:buFont typeface="Arial"/>
              <a:buChar char="•"/>
            </a:pPr>
            <a:endParaRPr lang="en-US">
              <a:ea typeface="Tahoma"/>
              <a:cs typeface="Gill Sans Light"/>
            </a:endParaRPr>
          </a:p>
          <a:p>
            <a:pPr lvl="1" indent="0">
              <a:buNone/>
            </a:pPr>
            <a:r>
              <a:rPr lang="en-US" dirty="0">
                <a:ea typeface="Tahoma"/>
                <a:cs typeface="Gill Sans Light"/>
              </a:rPr>
              <a:t>Epigenomics</a:t>
            </a:r>
          </a:p>
          <a:p>
            <a:pPr marL="815975" lvl="1" indent="-457200">
              <a:buFont typeface="Arial"/>
              <a:buChar char="•"/>
            </a:pPr>
            <a:r>
              <a:rPr lang="en-US" dirty="0" err="1">
                <a:ea typeface="Tahoma"/>
                <a:cs typeface="Gill Sans Light"/>
              </a:rPr>
              <a:t>Bisulphite</a:t>
            </a:r>
            <a:r>
              <a:rPr lang="en-US" dirty="0">
                <a:ea typeface="Tahoma"/>
                <a:cs typeface="Gill Sans Light"/>
              </a:rPr>
              <a:t> sequencing : DNA methylation</a:t>
            </a:r>
          </a:p>
          <a:p>
            <a:pPr marL="815975" lvl="1" indent="-457200">
              <a:buFont typeface="Arial"/>
              <a:buChar char="•"/>
            </a:pPr>
            <a:r>
              <a:rPr lang="en-US" dirty="0">
                <a:ea typeface="Tahoma"/>
                <a:cs typeface="Gill Sans Light"/>
              </a:rPr>
              <a:t>ATAC-Seq : </a:t>
            </a:r>
            <a:r>
              <a:rPr lang="en-US" dirty="0" err="1">
                <a:ea typeface="Tahoma"/>
                <a:cs typeface="Gill Sans Light"/>
              </a:rPr>
              <a:t>chromatine</a:t>
            </a:r>
            <a:r>
              <a:rPr lang="en-US" dirty="0">
                <a:ea typeface="Tahoma"/>
                <a:cs typeface="Gill Sans Light"/>
              </a:rPr>
              <a:t> opening</a:t>
            </a:r>
          </a:p>
          <a:p>
            <a:pPr marL="815975" lvl="1" indent="-457200">
              <a:buFont typeface="Arial"/>
              <a:buChar char="•"/>
            </a:pPr>
            <a:r>
              <a:rPr lang="en-US" dirty="0" err="1">
                <a:ea typeface="Tahoma"/>
                <a:cs typeface="Gill Sans Light"/>
              </a:rPr>
              <a:t>ChIP</a:t>
            </a:r>
            <a:r>
              <a:rPr lang="en-US" dirty="0">
                <a:ea typeface="Tahoma"/>
                <a:cs typeface="Gill Sans Light"/>
              </a:rPr>
              <a:t>-seq : TF binding sites</a:t>
            </a:r>
          </a:p>
          <a:p>
            <a:pPr marL="815975" lvl="1" indent="-457200">
              <a:buFont typeface="Arial"/>
              <a:buChar char="•"/>
            </a:pPr>
            <a:endParaRPr lang="en-US" dirty="0">
              <a:ea typeface="Tahoma"/>
              <a:cs typeface="Gill Sans Light"/>
            </a:endParaRPr>
          </a:p>
          <a:p>
            <a:pPr lvl="1" indent="0">
              <a:buNone/>
            </a:pPr>
            <a:r>
              <a:rPr lang="en-US" dirty="0">
                <a:ea typeface="Tahoma"/>
                <a:cs typeface="Gill Sans Light"/>
              </a:rPr>
              <a:t>Transcriptomics</a:t>
            </a:r>
          </a:p>
          <a:p>
            <a:pPr marL="815975" lvl="1" indent="-457200">
              <a:buFont typeface="Arial"/>
              <a:buChar char="•"/>
            </a:pPr>
            <a:r>
              <a:rPr lang="en-US" dirty="0">
                <a:ea typeface="Tahoma"/>
                <a:cs typeface="Gill Sans Light"/>
              </a:rPr>
              <a:t>Total RNA</a:t>
            </a:r>
          </a:p>
          <a:p>
            <a:pPr marL="815975" lvl="1" indent="-457200">
              <a:buFont typeface="Arial"/>
              <a:buChar char="•"/>
            </a:pPr>
            <a:r>
              <a:rPr lang="en-US" dirty="0">
                <a:ea typeface="Tahoma"/>
                <a:cs typeface="Gill Sans Light"/>
              </a:rPr>
              <a:t>Poly-A tail selection : focus on mRNA</a:t>
            </a:r>
          </a:p>
          <a:p>
            <a:pPr marL="815975" lvl="1" indent="-457200">
              <a:buFont typeface="Arial"/>
              <a:buChar char="•"/>
            </a:pPr>
            <a:r>
              <a:rPr lang="en-US" dirty="0">
                <a:ea typeface="Tahoma"/>
                <a:cs typeface="Gill Sans Light"/>
              </a:rPr>
              <a:t>Ribo depletion: mRNA + ncRNA</a:t>
            </a:r>
          </a:p>
          <a:p>
            <a:pPr marL="815975" lvl="1" indent="-457200">
              <a:buFont typeface="Arial"/>
              <a:buChar char="•"/>
            </a:pPr>
            <a:r>
              <a:rPr lang="en-US" dirty="0">
                <a:ea typeface="Tahoma"/>
                <a:cs typeface="Gill Sans Light"/>
              </a:rPr>
              <a:t>5'/3' RACE seq : isoform characterization for one gene</a:t>
            </a:r>
          </a:p>
          <a:p>
            <a:pPr marL="815975" lvl="1" indent="-457200">
              <a:buFont typeface="Arial"/>
              <a:buChar char="•"/>
            </a:pPr>
            <a:r>
              <a:rPr lang="en-US" dirty="0" err="1">
                <a:ea typeface="Tahoma"/>
                <a:cs typeface="Gill Sans Light"/>
              </a:rPr>
              <a:t>scRNAseq</a:t>
            </a:r>
          </a:p>
          <a:p>
            <a:pPr marL="815975" lvl="1" indent="-457200">
              <a:buFont typeface="Arial"/>
              <a:buChar char="•"/>
            </a:pPr>
            <a:r>
              <a:rPr lang="en-US" dirty="0">
                <a:ea typeface="Tahoma"/>
                <a:cs typeface="Gill Sans Light"/>
              </a:rPr>
              <a:t>Long read RNA sequencing</a:t>
            </a:r>
          </a:p>
          <a:p>
            <a:pPr marL="815975" lvl="1" indent="-457200">
              <a:buFont typeface="Arial"/>
              <a:buChar char="•"/>
            </a:pPr>
            <a:r>
              <a:rPr lang="en-US" dirty="0">
                <a:ea typeface="Tahoma"/>
                <a:cs typeface="Gill Sans Light"/>
              </a:rPr>
              <a:t>…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43A50-FAAA-B9E0-3699-B7E4D543FECF}"/>
              </a:ext>
            </a:extLst>
          </p:cNvPr>
          <p:cNvSpPr txBox="1"/>
          <p:nvPr/>
        </p:nvSpPr>
        <p:spPr>
          <a:xfrm>
            <a:off x="7539317" y="2429435"/>
            <a:ext cx="32810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Imagination is the limit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BB72B-DD3C-8C5A-3966-F5DAA6BDBA65}"/>
              </a:ext>
            </a:extLst>
          </p:cNvPr>
          <p:cNvSpPr txBox="1"/>
          <p:nvPr/>
        </p:nvSpPr>
        <p:spPr>
          <a:xfrm>
            <a:off x="6096000" y="5611905"/>
            <a:ext cx="47871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See : </a:t>
            </a:r>
            <a:r>
              <a:rPr lang="en-US" b="1" dirty="0">
                <a:ea typeface="+mn-lt"/>
                <a:cs typeface="+mn-lt"/>
              </a:rPr>
              <a:t>https://liorpachter.wordpress.com/seq/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70481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slides Outline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RNA and molecular biology</a:t>
            </a:r>
            <a:endParaRPr lang="en-GB" dirty="0"/>
          </a:p>
          <a:p>
            <a:pPr marL="815975" lvl="1" indent="-457200">
              <a:buFont typeface="Arial"/>
              <a:buChar char="•"/>
            </a:pPr>
            <a:r>
              <a:rPr lang="en-GB" b="1" dirty="0">
                <a:ea typeface="Tahoma"/>
                <a:cs typeface="Gill Sans Light"/>
              </a:rPr>
              <a:t>Main challenges for </a:t>
            </a:r>
            <a:r>
              <a:rPr lang="en-GB" b="1" dirty="0" err="1">
                <a:ea typeface="Tahoma"/>
                <a:cs typeface="Gill Sans Light"/>
              </a:rPr>
              <a:t>RNAseq</a:t>
            </a:r>
            <a:endParaRPr lang="en-GB" b="1" dirty="0">
              <a:ea typeface="Tahoma"/>
              <a:cs typeface="Gill Sans Light"/>
            </a:endParaRPr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Major Sequencing technologies</a:t>
            </a:r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Planning your sequencing : choices, number of samples, …</a:t>
            </a:r>
            <a:endParaRPr lang="en-GB" dirty="0"/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Bioinformatics analysis overview</a:t>
            </a:r>
            <a:endParaRPr lang="en-GB" dirty="0"/>
          </a:p>
          <a:p>
            <a:pPr lvl="1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270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Main challenges of </a:t>
            </a:r>
            <a:r>
              <a:rPr lang="en-GB" dirty="0" err="1">
                <a:ea typeface="Verdana"/>
                <a:cs typeface="Gill Sans"/>
              </a:rPr>
              <a:t>RNAseq</a:t>
            </a:r>
            <a:endParaRPr lang="en-US" dirty="0" err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E19DE0-0932-ACAA-57B0-212F05A13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8" y="2152369"/>
            <a:ext cx="11438964" cy="33959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9A53FC-81AA-6FDE-868B-1B141FB03DD6}"/>
              </a:ext>
            </a:extLst>
          </p:cNvPr>
          <p:cNvSpPr txBox="1"/>
          <p:nvPr/>
        </p:nvSpPr>
        <p:spPr>
          <a:xfrm>
            <a:off x="6669741" y="3693458"/>
            <a:ext cx="32183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Human annotated transcripts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E7FC049-74F4-2B4B-DC94-7F570B811759}"/>
              </a:ext>
            </a:extLst>
          </p:cNvPr>
          <p:cNvSpPr txBox="1">
            <a:spLocks/>
          </p:cNvSpPr>
          <p:nvPr/>
        </p:nvSpPr>
        <p:spPr>
          <a:xfrm>
            <a:off x="838200" y="99452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Tahoma"/>
                <a:cs typeface="Gill Sans Light"/>
              </a:rPr>
              <a:t>Transcripts are diverse in size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96002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Main challenges of </a:t>
            </a:r>
            <a:r>
              <a:rPr lang="en-GB" dirty="0" err="1">
                <a:ea typeface="Verdana"/>
                <a:cs typeface="Gill Sans"/>
              </a:rPr>
              <a:t>RNAseq</a:t>
            </a:r>
            <a:endParaRPr lang="en-US" dirty="0" err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972E2A-7369-5D38-53BB-68813AF083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9452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Tahoma"/>
                <a:cs typeface="Gill Sans Light"/>
              </a:rPr>
              <a:t>Transcripts are diverse in size</a:t>
            </a:r>
          </a:p>
          <a:p>
            <a:r>
              <a:rPr lang="en-US" dirty="0">
                <a:ea typeface="Tahoma"/>
                <a:cs typeface="Gill Sans Light"/>
              </a:rPr>
              <a:t>Expression levels have a </a:t>
            </a:r>
            <a:r>
              <a:rPr lang="en-US" i="1">
                <a:ea typeface="Tahoma"/>
                <a:cs typeface="Gill Sans Light"/>
              </a:rPr>
              <a:t>high dynamic range</a:t>
            </a:r>
            <a:endParaRPr lang="en-US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A53FC-81AA-6FDE-868B-1B141FB03DD6}"/>
              </a:ext>
            </a:extLst>
          </p:cNvPr>
          <p:cNvSpPr txBox="1"/>
          <p:nvPr/>
        </p:nvSpPr>
        <p:spPr>
          <a:xfrm>
            <a:off x="349624" y="5979458"/>
            <a:ext cx="105155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From </a:t>
            </a:r>
            <a:r>
              <a:rPr lang="en-US" dirty="0" err="1"/>
              <a:t>Gtex</a:t>
            </a:r>
            <a:r>
              <a:rPr lang="en-US" dirty="0"/>
              <a:t> V8 – human tissue samples </a:t>
            </a:r>
          </a:p>
          <a:p>
            <a:r>
              <a:rPr lang="en-US" dirty="0"/>
              <a:t>Data source : </a:t>
            </a:r>
            <a:r>
              <a:rPr lang="en-US" dirty="0">
                <a:ea typeface="+mn-lt"/>
                <a:cs typeface="+mn-lt"/>
              </a:rPr>
              <a:t>https://gtexportal.org/home/downloads/adult-gtex/bulk_tissue_expression</a:t>
            </a:r>
            <a:endParaRPr lang="en-US" dirty="0"/>
          </a:p>
        </p:txBody>
      </p:sp>
      <p:pic>
        <p:nvPicPr>
          <p:cNvPr id="3" name="Picture 2" descr="A graph with numbers and a white background&#10;&#10;Description automatically generated">
            <a:extLst>
              <a:ext uri="{FF2B5EF4-FFF2-40B4-BE49-F238E27FC236}">
                <a16:creationId xmlns:a16="http://schemas.microsoft.com/office/drawing/2014/main" id="{AA630BD1-5AF4-2D5D-26B0-8FDAA3DB0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487" y="1935816"/>
            <a:ext cx="4229100" cy="4133850"/>
          </a:xfrm>
          <a:prstGeom prst="rect">
            <a:avLst/>
          </a:prstGeom>
        </p:spPr>
      </p:pic>
      <p:pic>
        <p:nvPicPr>
          <p:cNvPr id="4" name="Picture 3" descr="A graph with a curve&#10;&#10;Description automatically generated">
            <a:extLst>
              <a:ext uri="{FF2B5EF4-FFF2-40B4-BE49-F238E27FC236}">
                <a16:creationId xmlns:a16="http://schemas.microsoft.com/office/drawing/2014/main" id="{887378C5-8F86-6798-D21B-4672CEAFF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020" y="1935255"/>
            <a:ext cx="4191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19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Main challenges of </a:t>
            </a:r>
            <a:r>
              <a:rPr lang="en-GB" dirty="0" err="1">
                <a:ea typeface="Verdana"/>
                <a:cs typeface="Gill Sans"/>
              </a:rPr>
              <a:t>RNAseq</a:t>
            </a:r>
            <a:endParaRPr lang="en-US" dirty="0" err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972E2A-7369-5D38-53BB-68813AF083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94522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Tahoma"/>
                <a:cs typeface="Gill Sans Light"/>
              </a:rPr>
              <a:t>Transcripts are diverse in size</a:t>
            </a:r>
          </a:p>
          <a:p>
            <a:r>
              <a:rPr lang="en-US" dirty="0">
                <a:ea typeface="Tahoma"/>
                <a:cs typeface="Gill Sans Light"/>
              </a:rPr>
              <a:t>Expression levels have a </a:t>
            </a:r>
            <a:r>
              <a:rPr lang="en-US" i="1" dirty="0">
                <a:ea typeface="Tahoma"/>
                <a:cs typeface="Gill Sans Light"/>
              </a:rPr>
              <a:t>high dynamic range</a:t>
            </a:r>
          </a:p>
          <a:p>
            <a:endParaRPr lang="en-US" dirty="0"/>
          </a:p>
          <a:p>
            <a:r>
              <a:rPr lang="en-US">
                <a:ea typeface="Tahoma"/>
                <a:cs typeface="Gill Sans Light"/>
              </a:rPr>
              <a:t>RNA molecules are exposed to degradation enzyme: 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ea typeface="Tahoma"/>
                <a:cs typeface="Gill Sans Light"/>
              </a:rPr>
              <a:t>RNA integrity affects results</a:t>
            </a:r>
          </a:p>
          <a:p>
            <a:pPr marL="342900" indent="-342900">
              <a:buChar char="•"/>
            </a:pPr>
            <a:endParaRPr lang="en-US" dirty="0"/>
          </a:p>
          <a:p>
            <a:r>
              <a:rPr lang="en-US" dirty="0">
                <a:ea typeface="Tahoma"/>
                <a:cs typeface="Gill Sans Light"/>
              </a:rPr>
              <a:t>Is there a reference genome. </a:t>
            </a:r>
          </a:p>
          <a:p>
            <a:r>
              <a:rPr lang="en-US" dirty="0">
                <a:ea typeface="Tahoma"/>
                <a:cs typeface="Gill Sans Light"/>
              </a:rPr>
              <a:t>If yes, 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ea typeface="Tahoma"/>
                <a:cs typeface="Gill Sans Light"/>
              </a:rPr>
              <a:t>How good is it?</a:t>
            </a:r>
            <a:endParaRPr lang="en-US" dirty="0"/>
          </a:p>
          <a:p>
            <a:pPr marL="342900" indent="-342900">
              <a:buChar char="•"/>
            </a:pPr>
            <a:r>
              <a:rPr lang="en-US">
                <a:ea typeface="Tahoma"/>
                <a:cs typeface="Gill Sans Light"/>
              </a:rPr>
              <a:t>How good is the gene annotation 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066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slides Outline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RNA and molecular biology</a:t>
            </a:r>
            <a:endParaRPr lang="en-GB" dirty="0"/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Main challenges for </a:t>
            </a:r>
            <a:r>
              <a:rPr lang="en-GB" dirty="0" err="1">
                <a:ea typeface="Tahoma"/>
                <a:cs typeface="Gill Sans Light"/>
              </a:rPr>
              <a:t>RNAseq</a:t>
            </a:r>
            <a:endParaRPr lang="en-GB" dirty="0">
              <a:ea typeface="Tahoma"/>
              <a:cs typeface="Gill Sans Light"/>
            </a:endParaRPr>
          </a:p>
          <a:p>
            <a:pPr marL="815975" lvl="1" indent="-457200">
              <a:buFont typeface="Arial"/>
              <a:buChar char="•"/>
            </a:pPr>
            <a:r>
              <a:rPr lang="en-GB" b="1" dirty="0">
                <a:ea typeface="Tahoma"/>
                <a:cs typeface="Gill Sans Light"/>
              </a:rPr>
              <a:t>Major Sequencing technologies</a:t>
            </a:r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Planning your sequencing : choices, number of samples, …</a:t>
            </a:r>
            <a:endParaRPr lang="en-GB" dirty="0"/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Bioinformatics analysis overview</a:t>
            </a:r>
            <a:endParaRPr lang="en-GB" dirty="0"/>
          </a:p>
          <a:p>
            <a:pPr lvl="1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518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Main sequencing technologies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3E7262F-4450-B2B0-B46E-A941C1ACC5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160" y="1295298"/>
            <a:ext cx="10149840" cy="35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47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Ion torrent - reading pH changes</a:t>
            </a:r>
            <a:endParaRPr lang="en-US" dirty="0"/>
          </a:p>
        </p:txBody>
      </p:sp>
      <p:pic>
        <p:nvPicPr>
          <p:cNvPr id="3" name="Picture 2" descr="A diagram of a structure&#10;&#10;Description automatically generated">
            <a:extLst>
              <a:ext uri="{FF2B5EF4-FFF2-40B4-BE49-F238E27FC236}">
                <a16:creationId xmlns:a16="http://schemas.microsoft.com/office/drawing/2014/main" id="{109F927C-0C79-EDE5-1C3B-0944C6E60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50" y="1255238"/>
            <a:ext cx="91440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57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6B056A35-FFFB-6265-470F-23F4DC364F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513" r="-148" b="72"/>
          <a:stretch/>
        </p:blipFill>
        <p:spPr>
          <a:xfrm>
            <a:off x="4986067" y="1332070"/>
            <a:ext cx="6908341" cy="45068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Oxford Nanopore - direct sequencing</a:t>
            </a:r>
            <a:endParaRPr lang="en-US" dirty="0"/>
          </a:p>
        </p:txBody>
      </p:sp>
      <p:pic>
        <p:nvPicPr>
          <p:cNvPr id="3" name="Picture 2" descr="A diagram of dna structure&#10;&#10;Description automatically generated">
            <a:extLst>
              <a:ext uri="{FF2B5EF4-FFF2-40B4-BE49-F238E27FC236}">
                <a16:creationId xmlns:a16="http://schemas.microsoft.com/office/drawing/2014/main" id="{0087414B-0B88-9D80-7328-4AB5DB2DE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6" y="1203390"/>
            <a:ext cx="4848225" cy="5133975"/>
          </a:xfrm>
          <a:prstGeom prst="rect">
            <a:avLst/>
          </a:prstGeom>
        </p:spPr>
      </p:pic>
      <p:pic>
        <p:nvPicPr>
          <p:cNvPr id="4" name="Picture 3" descr="A grey device with a cord&#10;&#10;Description automatically generated">
            <a:extLst>
              <a:ext uri="{FF2B5EF4-FFF2-40B4-BE49-F238E27FC236}">
                <a16:creationId xmlns:a16="http://schemas.microsoft.com/office/drawing/2014/main" id="{100FEB2E-FEA7-46E4-A88E-41B3C6089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389" y="5554508"/>
            <a:ext cx="2625725" cy="19996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23BFF3-7450-D122-E879-C177D29A5BC4}"/>
              </a:ext>
            </a:extLst>
          </p:cNvPr>
          <p:cNvSpPr txBox="1"/>
          <p:nvPr/>
        </p:nvSpPr>
        <p:spPr>
          <a:xfrm>
            <a:off x="6127544" y="6230440"/>
            <a:ext cx="566393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/>
              <a:t>From </a:t>
            </a:r>
            <a:r>
              <a:rPr lang="en-US" sz="1100" dirty="0">
                <a:ea typeface="+mn-lt"/>
                <a:cs typeface="+mn-lt"/>
              </a:rPr>
              <a:t>Wang, Y., </a:t>
            </a:r>
            <a:r>
              <a:rPr lang="en-US" sz="1100" i="1" dirty="0">
                <a:ea typeface="+mn-lt"/>
                <a:cs typeface="+mn-lt"/>
              </a:rPr>
              <a:t>et al.</a:t>
            </a:r>
            <a:r>
              <a:rPr lang="en-US" sz="1100" dirty="0">
                <a:ea typeface="+mn-lt"/>
                <a:cs typeface="+mn-lt"/>
              </a:rPr>
              <a:t> Nanopore sequencing technology, bioinformatics and applications. </a:t>
            </a:r>
            <a:r>
              <a:rPr lang="en-US" sz="1100" i="1" dirty="0">
                <a:ea typeface="+mn-lt"/>
                <a:cs typeface="+mn-lt"/>
              </a:rPr>
              <a:t>Nat </a:t>
            </a:r>
            <a:r>
              <a:rPr lang="en-US" sz="1100" i="1" dirty="0" err="1">
                <a:ea typeface="+mn-lt"/>
                <a:cs typeface="+mn-lt"/>
              </a:rPr>
              <a:t>Biotechnol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b="1" dirty="0">
                <a:ea typeface="+mn-lt"/>
                <a:cs typeface="+mn-lt"/>
              </a:rPr>
              <a:t>39</a:t>
            </a:r>
            <a:r>
              <a:rPr lang="en-US" sz="1100" dirty="0">
                <a:ea typeface="+mn-lt"/>
                <a:cs typeface="+mn-lt"/>
              </a:rPr>
              <a:t>, 1348–1365 (2021). https://doi.org/10.1038/s41587-021-01108-x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73194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Pacific Biosciences - Single Molecule Real Time </a:t>
            </a:r>
            <a:endParaRPr lang="en-GB"/>
          </a:p>
        </p:txBody>
      </p:sp>
      <p:pic>
        <p:nvPicPr>
          <p:cNvPr id="5" name="Picture 4" descr="Diagram of a diagram of a light source&#10;&#10;Description automatically generated">
            <a:extLst>
              <a:ext uri="{FF2B5EF4-FFF2-40B4-BE49-F238E27FC236}">
                <a16:creationId xmlns:a16="http://schemas.microsoft.com/office/drawing/2014/main" id="{D24EB033-52AE-7F27-403F-5066934FA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21" y="1142776"/>
            <a:ext cx="4848225" cy="48196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296C62-49C3-F19B-418C-309F30A42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06" y="2056541"/>
            <a:ext cx="8210550" cy="3781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8879E8-4280-5C68-DBCD-75F67CFF2C01}"/>
              </a:ext>
            </a:extLst>
          </p:cNvPr>
          <p:cNvSpPr txBox="1"/>
          <p:nvPr/>
        </p:nvSpPr>
        <p:spPr>
          <a:xfrm>
            <a:off x="1597510" y="6109746"/>
            <a:ext cx="475129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From Rhoads &amp; Au. Genomics Proteomics Bioinformatics 2015</a:t>
            </a:r>
          </a:p>
        </p:txBody>
      </p:sp>
    </p:spTree>
    <p:extLst>
      <p:ext uri="{BB962C8B-B14F-4D97-AF65-F5344CB8AC3E}">
        <p14:creationId xmlns:p14="http://schemas.microsoft.com/office/powerpoint/2010/main" val="4180313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Pacific Biosciences - Circular Consensus Sequencing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F95D4-E03C-52F5-F90F-81D4BE0BA64F}"/>
              </a:ext>
            </a:extLst>
          </p:cNvPr>
          <p:cNvSpPr txBox="1"/>
          <p:nvPr/>
        </p:nvSpPr>
        <p:spPr>
          <a:xfrm>
            <a:off x="977152" y="1147113"/>
            <a:ext cx="399225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Raw reads</a:t>
            </a:r>
          </a:p>
          <a:p>
            <a:pPr algn="ctr"/>
            <a:r>
              <a:rPr lang="en-US" sz="2400" dirty="0"/>
              <a:t>~15% random errors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AEA86E-1A05-B847-7DF4-26238443A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1" y="1844769"/>
            <a:ext cx="9144000" cy="4029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099628-F14F-50A7-D1AB-79251F66EE9A}"/>
              </a:ext>
            </a:extLst>
          </p:cNvPr>
          <p:cNvSpPr txBox="1"/>
          <p:nvPr/>
        </p:nvSpPr>
        <p:spPr>
          <a:xfrm>
            <a:off x="7512423" y="5997388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Typical in </a:t>
            </a:r>
            <a:r>
              <a:rPr lang="en-US" sz="2400" dirty="0" err="1"/>
              <a:t>isoseq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7753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Illumina sequencing - cluster formation</a:t>
            </a:r>
            <a:endParaRPr lang="en-GB" dirty="0"/>
          </a:p>
        </p:txBody>
      </p:sp>
      <p:pic>
        <p:nvPicPr>
          <p:cNvPr id="5" name="Picture 4" descr="A diagram of a structure&#10;&#10;Description automatically generated">
            <a:extLst>
              <a:ext uri="{FF2B5EF4-FFF2-40B4-BE49-F238E27FC236}">
                <a16:creationId xmlns:a16="http://schemas.microsoft.com/office/drawing/2014/main" id="{19E32D29-A84F-8478-F395-E640AEC69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276" y="963857"/>
            <a:ext cx="7986864" cy="47116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294EF3-6CB2-0FE6-8A39-A69C6F4476D1}"/>
              </a:ext>
            </a:extLst>
          </p:cNvPr>
          <p:cNvSpPr txBox="1"/>
          <p:nvPr/>
        </p:nvSpPr>
        <p:spPr>
          <a:xfrm>
            <a:off x="527538" y="6459415"/>
            <a:ext cx="1075764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rbel"/>
                <a:cs typeface="Arial"/>
              </a:rPr>
              <a:t>Source: Fig1b of Metzker, M. Sequencing technologies — the next generation. Nat Rev Genet 11, 31–46 (2010). </a:t>
            </a:r>
            <a:r>
              <a:rPr lang="en-US" sz="1400" dirty="0">
                <a:solidFill>
                  <a:srgbClr val="000000"/>
                </a:solidFill>
                <a:latin typeface="Corbel"/>
                <a:cs typeface="Arial"/>
                <a:hlinkClick r:id="rId3"/>
              </a:rPr>
              <a:t>https://doi.org/10.1038/nrg2626</a:t>
            </a:r>
            <a:endParaRPr lang="en-US" sz="1400" dirty="0">
              <a:latin typeface="Corbel"/>
              <a:cs typeface="Arial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94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552F3-E4A1-B0CD-9368-6084EE6F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465C-3A00-6736-AAC4-21DDA9E7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Illumina sequencing - cluster formation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147C9-7242-8EEC-2B77-6F7FF52F944A}"/>
              </a:ext>
            </a:extLst>
          </p:cNvPr>
          <p:cNvSpPr txBox="1"/>
          <p:nvPr/>
        </p:nvSpPr>
        <p:spPr>
          <a:xfrm>
            <a:off x="527538" y="6311248"/>
            <a:ext cx="10757647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rbel"/>
                <a:cs typeface="Arial"/>
              </a:rPr>
              <a:t>Source: Fig1 </a:t>
            </a:r>
            <a:r>
              <a:rPr lang="en-US" sz="1400" dirty="0">
                <a:solidFill>
                  <a:srgbClr val="000000"/>
                </a:solidFill>
                <a:ea typeface="+mn-lt"/>
                <a:cs typeface="Arial"/>
              </a:rPr>
              <a:t>of 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Chloe Baum. New approaches and concepts to study complex microbial communities. Microbiology and Parasitology. Université Paris-Saclay; New England Biolabs France, 2021. English. NNT : 2021UPASL050. tel-03531325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60A03E-8378-7070-CE0C-6B77CD321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084" y="1228570"/>
            <a:ext cx="8773583" cy="36964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9EBAFB-0F24-080B-43C5-9B13336A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75" y="3070226"/>
            <a:ext cx="31623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69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Illumina sequencing - sequencing by synthesis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ADEC99-3FC6-31F0-70F4-78A3B1454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3" y="1047750"/>
            <a:ext cx="87915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720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Illumina sequencing - image analysis</a:t>
            </a:r>
            <a:endParaRPr lang="en-GB" dirty="0"/>
          </a:p>
        </p:txBody>
      </p:sp>
      <p:pic>
        <p:nvPicPr>
          <p:cNvPr id="4" name="Picture 3" descr="A collage of images of different colored dots&#10;&#10;Description automatically generated">
            <a:extLst>
              <a:ext uri="{FF2B5EF4-FFF2-40B4-BE49-F238E27FC236}">
                <a16:creationId xmlns:a16="http://schemas.microsoft.com/office/drawing/2014/main" id="{76920287-7AC4-C530-818E-2820AC55E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942695"/>
            <a:ext cx="7848600" cy="5743575"/>
          </a:xfrm>
          <a:prstGeom prst="rect">
            <a:avLst/>
          </a:prstGeom>
        </p:spPr>
      </p:pic>
      <p:sp>
        <p:nvSpPr>
          <p:cNvPr id="5" name="CustomShape 2">
            <a:extLst>
              <a:ext uri="{FF2B5EF4-FFF2-40B4-BE49-F238E27FC236}">
                <a16:creationId xmlns:a16="http://schemas.microsoft.com/office/drawing/2014/main" id="{35E1781C-2D34-AB8F-AAEA-0D934930F423}"/>
              </a:ext>
            </a:extLst>
          </p:cNvPr>
          <p:cNvSpPr/>
          <p:nvPr/>
        </p:nvSpPr>
        <p:spPr>
          <a:xfrm>
            <a:off x="6828847" y="1099793"/>
            <a:ext cx="4453560" cy="36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323232"/>
                </a:solidFill>
                <a:latin typeface="Arial"/>
                <a:ea typeface="DejaVu Sans"/>
              </a:rPr>
              <a:t>On the fly, instrument-associated software</a:t>
            </a:r>
            <a:endParaRPr lang="en-US" sz="18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3886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Illumina sequencing - from image to sequence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D8C325-5D06-5F74-8CF0-9545573FCE90}"/>
              </a:ext>
            </a:extLst>
          </p:cNvPr>
          <p:cNvGrpSpPr/>
          <p:nvPr/>
        </p:nvGrpSpPr>
        <p:grpSpPr>
          <a:xfrm>
            <a:off x="2171132" y="971958"/>
            <a:ext cx="7846560" cy="5663520"/>
            <a:chOff x="700920" y="1052640"/>
            <a:chExt cx="7846560" cy="56635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A950FF-5D2C-71F5-2709-C0F1CC0BFAEB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700920" y="1052640"/>
              <a:ext cx="7846560" cy="5663520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CustomShape 3">
              <a:extLst>
                <a:ext uri="{FF2B5EF4-FFF2-40B4-BE49-F238E27FC236}">
                  <a16:creationId xmlns:a16="http://schemas.microsoft.com/office/drawing/2014/main" id="{5FFA1E98-4806-BC7A-066E-AD636B31A645}"/>
                </a:ext>
              </a:extLst>
            </p:cNvPr>
            <p:cNvSpPr/>
            <p:nvPr/>
          </p:nvSpPr>
          <p:spPr>
            <a:xfrm>
              <a:off x="815760" y="6175080"/>
              <a:ext cx="435960" cy="307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round/>
            </a:ln>
            <a:effectLst>
              <a:outerShdw blurRad="4000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31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slides Outline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RNA and molecular biology</a:t>
            </a:r>
            <a:endParaRPr lang="en-GB" dirty="0"/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Main challenges for </a:t>
            </a:r>
            <a:r>
              <a:rPr lang="en-GB" dirty="0" err="1">
                <a:ea typeface="Tahoma"/>
                <a:cs typeface="Gill Sans Light"/>
              </a:rPr>
              <a:t>RNAseq</a:t>
            </a:r>
            <a:endParaRPr lang="en-GB" dirty="0">
              <a:ea typeface="Tahoma"/>
              <a:cs typeface="Gill Sans Light"/>
            </a:endParaRPr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Major Sequencing technologies</a:t>
            </a:r>
          </a:p>
          <a:p>
            <a:pPr marL="815975" lvl="1" indent="-457200">
              <a:buFont typeface="Arial"/>
              <a:buChar char="•"/>
            </a:pPr>
            <a:r>
              <a:rPr lang="en-GB" b="1" dirty="0">
                <a:ea typeface="Tahoma"/>
                <a:cs typeface="Gill Sans Light"/>
              </a:rPr>
              <a:t>Planning your sequencing : choices, number of samples, …</a:t>
            </a:r>
            <a:endParaRPr lang="en-GB" b="1"/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Bioinformatics analysis overview</a:t>
            </a:r>
            <a:endParaRPr lang="en-GB" dirty="0"/>
          </a:p>
          <a:p>
            <a:pPr lvl="1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450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Paired-end sequencing</a:t>
            </a:r>
            <a:endParaRPr lang="en-US" dirty="0"/>
          </a:p>
        </p:txBody>
      </p:sp>
      <p:pic>
        <p:nvPicPr>
          <p:cNvPr id="4" name="Picture 3" descr="A diagram of a dna sequence&#10;&#10;Description automatically generated">
            <a:extLst>
              <a:ext uri="{FF2B5EF4-FFF2-40B4-BE49-F238E27FC236}">
                <a16:creationId xmlns:a16="http://schemas.microsoft.com/office/drawing/2014/main" id="{26E9DDAC-2AB2-B5DA-19D6-F002C5602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855" y="1190065"/>
            <a:ext cx="3704104" cy="5750858"/>
          </a:xfrm>
          <a:prstGeom prst="rect">
            <a:avLst/>
          </a:prstGeom>
        </p:spPr>
      </p:pic>
      <p:pic>
        <p:nvPicPr>
          <p:cNvPr id="5" name="Picture 4" descr="A diagram of a transposing process&#10;&#10;Description automatically generated">
            <a:extLst>
              <a:ext uri="{FF2B5EF4-FFF2-40B4-BE49-F238E27FC236}">
                <a16:creationId xmlns:a16="http://schemas.microsoft.com/office/drawing/2014/main" id="{1162994B-22B4-34DA-A885-4CFF96B7F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501" y="1190065"/>
            <a:ext cx="3820645" cy="57508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DA95DD-B726-8E90-16F8-12DCE3A8B7E9}"/>
              </a:ext>
            </a:extLst>
          </p:cNvPr>
          <p:cNvSpPr txBox="1"/>
          <p:nvPr/>
        </p:nvSpPr>
        <p:spPr>
          <a:xfrm>
            <a:off x="1855693" y="869576"/>
            <a:ext cx="38637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rbel"/>
                <a:cs typeface="Arial"/>
              </a:rPr>
              <a:t>“Classical” paired end library (</a:t>
            </a:r>
            <a:r>
              <a:rPr lang="en-US" err="1">
                <a:solidFill>
                  <a:srgbClr val="000000"/>
                </a:solidFill>
                <a:latin typeface="Corbel"/>
                <a:cs typeface="Arial"/>
              </a:rPr>
              <a:t>illumina</a:t>
            </a:r>
            <a:r>
              <a:rPr lang="en-US" dirty="0">
                <a:solidFill>
                  <a:srgbClr val="000000"/>
                </a:solidFill>
                <a:latin typeface="Corbel"/>
                <a:cs typeface="Arial"/>
              </a:rPr>
              <a:t>)</a:t>
            </a:r>
            <a:endParaRPr lang="en-US" dirty="0">
              <a:latin typeface="Corbel"/>
              <a:cs typeface="Arial"/>
            </a:endParaRPr>
          </a:p>
          <a:p>
            <a:pPr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57F5CD-838C-955A-9EA3-FAE9996FDED1}"/>
              </a:ext>
            </a:extLst>
          </p:cNvPr>
          <p:cNvSpPr txBox="1"/>
          <p:nvPr/>
        </p:nvSpPr>
        <p:spPr>
          <a:xfrm>
            <a:off x="6517341" y="869576"/>
            <a:ext cx="33886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rbel"/>
                <a:cs typeface="Arial"/>
              </a:rPr>
              <a:t>“Nextera” paired end library</a:t>
            </a:r>
            <a:endParaRPr lang="en-US" dirty="0">
              <a:latin typeface="Corbel"/>
              <a:cs typeface="Arial"/>
            </a:endParaRPr>
          </a:p>
          <a:p>
            <a:pPr algn="l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E9D2A2-5DE6-46C0-0715-9BADDEE1EAF6}"/>
              </a:ext>
            </a:extLst>
          </p:cNvPr>
          <p:cNvSpPr txBox="1"/>
          <p:nvPr/>
        </p:nvSpPr>
        <p:spPr>
          <a:xfrm>
            <a:off x="-1" y="6472517"/>
            <a:ext cx="32721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rbel"/>
                <a:cs typeface="Arial"/>
              </a:rPr>
              <a:t>Source : France </a:t>
            </a:r>
            <a:r>
              <a:rPr lang="en-US" dirty="0" err="1">
                <a:solidFill>
                  <a:srgbClr val="000000"/>
                </a:solidFill>
                <a:latin typeface="Corbel"/>
                <a:cs typeface="Arial"/>
              </a:rPr>
              <a:t>Genomique</a:t>
            </a:r>
            <a:endParaRPr lang="en-US" dirty="0" err="1">
              <a:latin typeface="Corbel"/>
              <a:cs typeface="Arial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301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Stranded vs </a:t>
            </a:r>
            <a:r>
              <a:rPr lang="en-GB" dirty="0" err="1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Unstranded</a:t>
            </a:r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 Sequencing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E3A98-5ED3-6847-4A9C-3FBC45E45182}"/>
              </a:ext>
            </a:extLst>
          </p:cNvPr>
          <p:cNvSpPr txBox="1"/>
          <p:nvPr/>
        </p:nvSpPr>
        <p:spPr>
          <a:xfrm>
            <a:off x="421341" y="1344706"/>
            <a:ext cx="927847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/>
              <a:t>Overlapping genes regions are substantial (~8% in </a:t>
            </a:r>
            <a:r>
              <a:rPr lang="en-US" sz="2000" i="1" dirty="0"/>
              <a:t>Homo sapiens</a:t>
            </a:r>
            <a:r>
              <a:rPr lang="en-US" sz="2000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Stranded sequencing allows us to quantify expression in these overlapping regions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Achieved by ligating different adapters to 5' and 3' ends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BA61378-667E-D486-F93A-A006F8A13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391" y="2570911"/>
            <a:ext cx="6431616" cy="69874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2F10AE-FED0-B8CC-85BF-4CB3C2846088}"/>
              </a:ext>
            </a:extLst>
          </p:cNvPr>
          <p:cNvSpPr txBox="1"/>
          <p:nvPr/>
        </p:nvSpPr>
        <p:spPr>
          <a:xfrm>
            <a:off x="125505" y="6158752"/>
            <a:ext cx="2743200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 err="1">
                <a:solidFill>
                  <a:srgbClr val="323232"/>
                </a:solidFill>
                <a:latin typeface="Corbel"/>
                <a:cs typeface="Arial"/>
              </a:rPr>
              <a:t>M.Griffith</a:t>
            </a:r>
            <a:r>
              <a:rPr lang="en-US" sz="1300" dirty="0">
                <a:solidFill>
                  <a:srgbClr val="323232"/>
                </a:solidFill>
                <a:latin typeface="Corbel"/>
                <a:cs typeface="Arial"/>
              </a:rPr>
              <a:t> et al. </a:t>
            </a:r>
            <a:endParaRPr lang="en-US" sz="1300" dirty="0">
              <a:latin typeface="Corbel"/>
              <a:cs typeface="Arial"/>
            </a:endParaRPr>
          </a:p>
          <a:p>
            <a:r>
              <a:rPr lang="en-US" sz="1300" dirty="0" err="1">
                <a:solidFill>
                  <a:srgbClr val="323232"/>
                </a:solidFill>
                <a:latin typeface="Corbel"/>
                <a:cs typeface="Arial"/>
              </a:rPr>
              <a:t>PLoS</a:t>
            </a:r>
            <a:r>
              <a:rPr lang="en-US" sz="1300" dirty="0">
                <a:solidFill>
                  <a:srgbClr val="323232"/>
                </a:solidFill>
                <a:latin typeface="Corbel"/>
                <a:cs typeface="Arial"/>
              </a:rPr>
              <a:t> Comp Biol 2015 </a:t>
            </a:r>
            <a:endParaRPr lang="en-US" sz="1300" dirty="0">
              <a:latin typeface="Corbel"/>
              <a:cs typeface="Arial"/>
            </a:endParaRPr>
          </a:p>
          <a:p>
            <a:r>
              <a:rPr lang="en-US" sz="1300" dirty="0">
                <a:solidFill>
                  <a:srgbClr val="323232"/>
                </a:solidFill>
                <a:latin typeface="Corbel"/>
                <a:cs typeface="Arial"/>
              </a:rPr>
              <a:t>doi:10.1371/journal.pcbi.1004393</a:t>
            </a:r>
            <a:endParaRPr lang="en-US" sz="1300" dirty="0">
              <a:latin typeface="Corbel"/>
              <a:cs typeface="Arial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651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RNA purification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E3A98-5ED3-6847-4A9C-3FBC45E45182}"/>
              </a:ext>
            </a:extLst>
          </p:cNvPr>
          <p:cNvSpPr txBox="1"/>
          <p:nvPr/>
        </p:nvSpPr>
        <p:spPr>
          <a:xfrm>
            <a:off x="421341" y="1344706"/>
            <a:ext cx="927847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PolyA selection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Commonly used and inexpensive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3' end bias when RNA is degraded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Loses almost all non-</a:t>
            </a:r>
            <a:r>
              <a:rPr lang="en-US" sz="2000" dirty="0" err="1"/>
              <a:t>polyA</a:t>
            </a:r>
            <a:r>
              <a:rPr lang="en-US" sz="2000" dirty="0"/>
              <a:t> transcripts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Gets rid of vast majority of ribosomal RNAs, but ncRNA too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r>
              <a:rPr lang="en-US" sz="2000" dirty="0"/>
              <a:t>Ribosomal RNA depletion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Less popular, ~2x more expensive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Higher proportion of rRNA than in </a:t>
            </a:r>
            <a:r>
              <a:rPr lang="en-US" sz="2000" dirty="0" err="1"/>
              <a:t>polyA</a:t>
            </a:r>
            <a:r>
              <a:rPr lang="en-US" sz="2000" dirty="0"/>
              <a:t> selection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Bacterial data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Allows identification of </a:t>
            </a:r>
            <a:r>
              <a:rPr lang="en-US" sz="2000" dirty="0" err="1"/>
              <a:t>lncRNAs</a:t>
            </a:r>
            <a:r>
              <a:rPr lang="en-US" sz="2000" dirty="0"/>
              <a:t> without </a:t>
            </a:r>
            <a:r>
              <a:rPr lang="en-US" sz="2000" dirty="0" err="1"/>
              <a:t>polyA</a:t>
            </a:r>
            <a:r>
              <a:rPr lang="en-US" sz="2000" dirty="0"/>
              <a:t> tails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Retains more immature mRNAs ( bad for gene expression quantification )</a:t>
            </a:r>
          </a:p>
        </p:txBody>
      </p:sp>
    </p:spTree>
    <p:extLst>
      <p:ext uri="{BB962C8B-B14F-4D97-AF65-F5344CB8AC3E}">
        <p14:creationId xmlns:p14="http://schemas.microsoft.com/office/powerpoint/2010/main" val="1132146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E2232"/>
                </a:solidFill>
                <a:latin typeface="Corbel"/>
                <a:ea typeface="Verdana"/>
                <a:cs typeface="Gill Sans"/>
              </a:rPr>
              <a:t>Sequencing depth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E3A98-5ED3-6847-4A9C-3FBC45E45182}"/>
              </a:ext>
            </a:extLst>
          </p:cNvPr>
          <p:cNvSpPr txBox="1"/>
          <p:nvPr/>
        </p:nvSpPr>
        <p:spPr>
          <a:xfrm>
            <a:off x="421341" y="1344706"/>
            <a:ext cx="927847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DE : usually aim for ~30-40 million reads</a:t>
            </a:r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C96C572F-55D1-BCAE-937A-73DA53CDF2E5}"/>
              </a:ext>
            </a:extLst>
          </p:cNvPr>
          <p:cNvSpPr/>
          <p:nvPr/>
        </p:nvSpPr>
        <p:spPr>
          <a:xfrm>
            <a:off x="-297013" y="6072445"/>
            <a:ext cx="5355720" cy="66337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spc="-1" dirty="0">
                <a:solidFill>
                  <a:srgbClr val="323232"/>
                </a:solidFill>
                <a:latin typeface="Corbel"/>
              </a:rPr>
              <a:t>A User's Guide to the Encyclopedia of DNA Elements </a:t>
            </a:r>
            <a:endParaRPr lang="en-US" sz="1200" spc="-1">
              <a:solidFill>
                <a:srgbClr val="1E2232"/>
              </a:solidFill>
              <a:latin typeface="Corbel"/>
            </a:endParaRPr>
          </a:p>
          <a:p>
            <a:pPr algn="r"/>
            <a:r>
              <a:rPr lang="en-US" sz="1200" spc="-1">
                <a:solidFill>
                  <a:srgbClr val="323232"/>
                </a:solidFill>
                <a:latin typeface="Corbel"/>
              </a:rPr>
              <a:t>(ENCODE) </a:t>
            </a:r>
            <a:r>
              <a:rPr lang="en-US" sz="1200" spc="-1" err="1">
                <a:solidFill>
                  <a:srgbClr val="323232"/>
                </a:solidFill>
                <a:latin typeface="Corbel"/>
              </a:rPr>
              <a:t>PLoS</a:t>
            </a:r>
            <a:r>
              <a:rPr lang="en-US" sz="1200" spc="-1" dirty="0">
                <a:solidFill>
                  <a:srgbClr val="323232"/>
                </a:solidFill>
                <a:latin typeface="Corbel"/>
              </a:rPr>
              <a:t> 2011</a:t>
            </a:r>
            <a:endParaRPr lang="en-US" sz="1200" b="0" strike="noStrike" spc="-1">
              <a:solidFill>
                <a:srgbClr val="1E2232"/>
              </a:solidFill>
              <a:latin typeface="Corbel"/>
            </a:endParaRPr>
          </a:p>
        </p:txBody>
      </p:sp>
      <p:sp>
        <p:nvSpPr>
          <p:cNvPr id="13" name="CustomShape 6">
            <a:extLst>
              <a:ext uri="{FF2B5EF4-FFF2-40B4-BE49-F238E27FC236}">
                <a16:creationId xmlns:a16="http://schemas.microsoft.com/office/drawing/2014/main" id="{7C1FC270-FC25-C609-5640-4D1B9A0E2972}"/>
              </a:ext>
            </a:extLst>
          </p:cNvPr>
          <p:cNvSpPr/>
          <p:nvPr/>
        </p:nvSpPr>
        <p:spPr>
          <a:xfrm>
            <a:off x="419394" y="2561211"/>
            <a:ext cx="4811395" cy="20474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1800" strike="noStrike" spc="-1" dirty="0">
                <a:solidFill>
                  <a:srgbClr val="323232"/>
                </a:solidFill>
                <a:latin typeface="Corbel"/>
                <a:ea typeface="DejaVu Sans"/>
              </a:rPr>
              <a:t>For rare events (isoforms, somatic mutations) much more depth is required</a:t>
            </a:r>
            <a:endParaRPr lang="en-US" sz="1800" strike="noStrike" spc="-1" dirty="0">
              <a:latin typeface="Corbel"/>
            </a:endParaRPr>
          </a:p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1800" strike="noStrike" spc="-1" dirty="0">
                <a:solidFill>
                  <a:srgbClr val="323232"/>
                </a:solidFill>
                <a:latin typeface="Corbel"/>
                <a:ea typeface="DejaVu Sans"/>
              </a:rPr>
              <a:t>Not easy to know in advance</a:t>
            </a:r>
            <a:endParaRPr lang="en-US" sz="1800" strike="noStrike" spc="-1" dirty="0">
              <a:latin typeface="Corbe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ACC3E7F-4C79-9FE1-6B80-8FFBC0DCB4C2}"/>
              </a:ext>
            </a:extLst>
          </p:cNvPr>
          <p:cNvGrpSpPr/>
          <p:nvPr/>
        </p:nvGrpSpPr>
        <p:grpSpPr>
          <a:xfrm>
            <a:off x="5150738" y="1103828"/>
            <a:ext cx="5994494" cy="5630033"/>
            <a:chOff x="429480" y="2125066"/>
            <a:chExt cx="4824000" cy="453024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F5B3CBB-942B-E6C8-B7D0-5739DE639076}"/>
                </a:ext>
              </a:extLst>
            </p:cNvPr>
            <p:cNvPicPr/>
            <p:nvPr/>
          </p:nvPicPr>
          <p:blipFill>
            <a:blip r:embed="rId2"/>
            <a:srcRect t="3325" r="50821" b="50861"/>
            <a:stretch/>
          </p:blipFill>
          <p:spPr>
            <a:xfrm>
              <a:off x="429480" y="2125066"/>
              <a:ext cx="4824000" cy="4530240"/>
            </a:xfrm>
            <a:prstGeom prst="rect">
              <a:avLst/>
            </a:prstGeom>
            <a:ln>
              <a:noFill/>
            </a:ln>
            <a:effectLst>
              <a:outerShdw blurRad="292100" dist="138988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8" name="CustomShape 5">
              <a:extLst>
                <a:ext uri="{FF2B5EF4-FFF2-40B4-BE49-F238E27FC236}">
                  <a16:creationId xmlns:a16="http://schemas.microsoft.com/office/drawing/2014/main" id="{0A797F2E-2441-5CC2-9DAB-F0E26C72A845}"/>
                </a:ext>
              </a:extLst>
            </p:cNvPr>
            <p:cNvSpPr/>
            <p:nvPr/>
          </p:nvSpPr>
          <p:spPr>
            <a:xfrm>
              <a:off x="3429360" y="3933000"/>
              <a:ext cx="1241640" cy="2718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1800" b="0" strike="noStrike" spc="-1">
                  <a:solidFill>
                    <a:srgbClr val="323232"/>
                  </a:solidFill>
                  <a:latin typeface="Arial"/>
                  <a:ea typeface="DejaVu Sans"/>
                </a:rPr>
                <a:t>RPKM class</a:t>
              </a:r>
              <a:endParaRPr lang="en-US" sz="1800" b="0" strike="noStrike" spc="-1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1002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Replicates - estimating a biological variance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E3A98-5ED3-6847-4A9C-3FBC45E45182}"/>
              </a:ext>
            </a:extLst>
          </p:cNvPr>
          <p:cNvSpPr txBox="1"/>
          <p:nvPr/>
        </p:nvSpPr>
        <p:spPr>
          <a:xfrm>
            <a:off x="5849609" y="1596088"/>
            <a:ext cx="92784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What does this tell you about the number of </a:t>
            </a:r>
          </a:p>
          <a:p>
            <a:r>
              <a:rPr lang="en-US" sz="2000" dirty="0"/>
              <a:t>replicates needed ?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7F0B966-3CAB-D119-084B-8F84737D8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487837"/>
            <a:ext cx="6400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98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Replicates - estimating a biological variance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E3A98-5ED3-6847-4A9C-3FBC45E45182}"/>
              </a:ext>
            </a:extLst>
          </p:cNvPr>
          <p:cNvSpPr txBox="1"/>
          <p:nvPr/>
        </p:nvSpPr>
        <p:spPr>
          <a:xfrm>
            <a:off x="5849609" y="1596088"/>
            <a:ext cx="92784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What does this tell you about the number of </a:t>
            </a:r>
          </a:p>
          <a:p>
            <a:r>
              <a:rPr lang="en-US" sz="2000" dirty="0"/>
              <a:t>replicates needed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F0B966-3CAB-D119-084B-8F84737D8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487837"/>
            <a:ext cx="6400800" cy="640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C88A60-E38D-5819-E458-98A7FA7F1D1D}"/>
              </a:ext>
            </a:extLst>
          </p:cNvPr>
          <p:cNvSpPr txBox="1"/>
          <p:nvPr/>
        </p:nvSpPr>
        <p:spPr>
          <a:xfrm>
            <a:off x="6096000" y="3212123"/>
            <a:ext cx="543950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2 types of replicates:</a:t>
            </a:r>
          </a:p>
          <a:p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b="1" dirty="0"/>
              <a:t>Technical</a:t>
            </a:r>
            <a:r>
              <a:rPr lang="en-US" sz="2400" dirty="0"/>
              <a:t>: same RNA extract</a:t>
            </a:r>
          </a:p>
          <a:p>
            <a:endParaRPr lang="en-US" sz="2400" dirty="0"/>
          </a:p>
          <a:p>
            <a:pPr marL="342900" indent="-342900">
              <a:buFont typeface="Arial"/>
              <a:buChar char="•"/>
            </a:pPr>
            <a:r>
              <a:rPr lang="en-US" sz="2400" b="1" dirty="0"/>
              <a:t>Biological</a:t>
            </a:r>
            <a:r>
              <a:rPr lang="en-US" sz="2400" dirty="0"/>
              <a:t>: same biological condition</a:t>
            </a:r>
          </a:p>
        </p:txBody>
      </p:sp>
    </p:spTree>
    <p:extLst>
      <p:ext uri="{BB962C8B-B14F-4D97-AF65-F5344CB8AC3E}">
        <p14:creationId xmlns:p14="http://schemas.microsoft.com/office/powerpoint/2010/main" val="29926062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78365412-6DB3-BD11-F991-E8A67AE975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5" t="3941" r="4704" b="8374"/>
          <a:stretch/>
        </p:blipFill>
        <p:spPr>
          <a:xfrm>
            <a:off x="755040" y="982175"/>
            <a:ext cx="9340380" cy="4695180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Technical replicates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E3A98-5ED3-6847-4A9C-3FBC45E45182}"/>
              </a:ext>
            </a:extLst>
          </p:cNvPr>
          <p:cNvSpPr txBox="1"/>
          <p:nvPr/>
        </p:nvSpPr>
        <p:spPr>
          <a:xfrm>
            <a:off x="1605855" y="5593657"/>
            <a:ext cx="176397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/>
              <a:t>D. </a:t>
            </a:r>
            <a:r>
              <a:rPr lang="en-US" sz="2000" i="1" dirty="0" err="1"/>
              <a:t>simulans</a:t>
            </a:r>
            <a:endParaRPr lang="en-US" i="1" dirty="0"/>
          </a:p>
          <a:p>
            <a:pPr algn="ctr"/>
            <a:r>
              <a:rPr lang="en-US" sz="2000" dirty="0"/>
              <a:t>Male heads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CA2C04-51A0-91EA-D358-49BBDD24892E}"/>
              </a:ext>
            </a:extLst>
          </p:cNvPr>
          <p:cNvSpPr txBox="1"/>
          <p:nvPr/>
        </p:nvSpPr>
        <p:spPr>
          <a:xfrm>
            <a:off x="4606962" y="5593656"/>
            <a:ext cx="210394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dirty="0"/>
              <a:t>D. melanogaster</a:t>
            </a:r>
            <a:endParaRPr lang="en-US" i="1"/>
          </a:p>
          <a:p>
            <a:pPr algn="ctr"/>
            <a:r>
              <a:rPr lang="en-US" sz="2000" dirty="0"/>
              <a:t>Female heads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A377C-16A7-4E82-05C1-10D3E9D76311}"/>
              </a:ext>
            </a:extLst>
          </p:cNvPr>
          <p:cNvSpPr txBox="1"/>
          <p:nvPr/>
        </p:nvSpPr>
        <p:spPr>
          <a:xfrm>
            <a:off x="7842531" y="5593656"/>
            <a:ext cx="17639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C167 cell line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518E46-60C2-135B-599E-FA8D38632C81}"/>
              </a:ext>
            </a:extLst>
          </p:cNvPr>
          <p:cNvSpPr txBox="1"/>
          <p:nvPr/>
        </p:nvSpPr>
        <p:spPr>
          <a:xfrm>
            <a:off x="6965700" y="6415003"/>
            <a:ext cx="413824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323232"/>
                </a:solidFill>
                <a:latin typeface="Corbel"/>
                <a:cs typeface="Arial"/>
              </a:rPr>
              <a:t>Lauren M </a:t>
            </a:r>
            <a:r>
              <a:rPr lang="en-US" sz="1600" err="1">
                <a:solidFill>
                  <a:srgbClr val="323232"/>
                </a:solidFill>
                <a:latin typeface="Corbel"/>
                <a:cs typeface="Arial"/>
              </a:rPr>
              <a:t>Mclntyre</a:t>
            </a:r>
            <a:r>
              <a:rPr lang="en-US" sz="1600" dirty="0">
                <a:solidFill>
                  <a:srgbClr val="323232"/>
                </a:solidFill>
                <a:latin typeface="Corbel"/>
                <a:cs typeface="Arial"/>
              </a:rPr>
              <a:t> et al., BMC Genomics 2011</a:t>
            </a:r>
            <a:endParaRPr lang="en-US"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1698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Technical replicates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E3A98-5ED3-6847-4A9C-3FBC45E45182}"/>
              </a:ext>
            </a:extLst>
          </p:cNvPr>
          <p:cNvSpPr txBox="1"/>
          <p:nvPr/>
        </p:nvSpPr>
        <p:spPr>
          <a:xfrm>
            <a:off x="7397055" y="4051727"/>
            <a:ext cx="33417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/>
              <a:t>Exon level</a:t>
            </a:r>
            <a:r>
              <a:rPr lang="en-US" sz="2000" dirty="0"/>
              <a:t>: reproducible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99BF16-B1C8-8705-A9E4-34BF4B4EF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54" y="735105"/>
            <a:ext cx="6382034" cy="5970495"/>
          </a:xfrm>
          <a:prstGeom prst="rect">
            <a:avLst/>
          </a:prstGeom>
        </p:spPr>
      </p:pic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9825E433-C308-55D9-E510-311AC62A4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707" y="1718142"/>
            <a:ext cx="5200090" cy="192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926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Technical replicates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E3A98-5ED3-6847-4A9C-3FBC45E45182}"/>
              </a:ext>
            </a:extLst>
          </p:cNvPr>
          <p:cNvSpPr txBox="1"/>
          <p:nvPr/>
        </p:nvSpPr>
        <p:spPr>
          <a:xfrm>
            <a:off x="7397055" y="4051727"/>
            <a:ext cx="37989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/>
              <a:t>Transcript level</a:t>
            </a:r>
            <a:r>
              <a:rPr lang="en-US" sz="2000" dirty="0"/>
              <a:t>: not reproducible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99BF16-B1C8-8705-A9E4-34BF4B4EF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54" y="735105"/>
            <a:ext cx="6382034" cy="5970495"/>
          </a:xfrm>
          <a:prstGeom prst="rect">
            <a:avLst/>
          </a:prstGeom>
        </p:spPr>
      </p:pic>
      <p:pic>
        <p:nvPicPr>
          <p:cNvPr id="14" name="Picture 13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886FB784-B340-D16E-739F-96B42B8DB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09" y="2133600"/>
            <a:ext cx="6374721" cy="4634753"/>
          </a:xfrm>
          <a:prstGeom prst="rect">
            <a:avLst/>
          </a:prstGeom>
        </p:spPr>
      </p:pic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9825E433-C308-55D9-E510-311AC62A4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707" y="1718142"/>
            <a:ext cx="5200090" cy="192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505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Biological replicates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E3A98-5ED3-6847-4A9C-3FBC45E45182}"/>
              </a:ext>
            </a:extLst>
          </p:cNvPr>
          <p:cNvSpPr txBox="1"/>
          <p:nvPr/>
        </p:nvSpPr>
        <p:spPr>
          <a:xfrm>
            <a:off x="4196655" y="5871563"/>
            <a:ext cx="37989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Samples per condition</a:t>
            </a:r>
          </a:p>
        </p:txBody>
      </p:sp>
      <p:pic>
        <p:nvPicPr>
          <p:cNvPr id="10" name="Picture 9" descr="A graph with different colored boxes&#10;&#10;Description automatically generated">
            <a:extLst>
              <a:ext uri="{FF2B5EF4-FFF2-40B4-BE49-F238E27FC236}">
                <a16:creationId xmlns:a16="http://schemas.microsoft.com/office/drawing/2014/main" id="{E31C9774-5209-F14D-74D2-706865EA43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19" b="-1307"/>
          <a:stretch/>
        </p:blipFill>
        <p:spPr>
          <a:xfrm>
            <a:off x="651232" y="806824"/>
            <a:ext cx="5003231" cy="45954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510365-DFC3-CAAB-5A25-315F279935AE}"/>
              </a:ext>
            </a:extLst>
          </p:cNvPr>
          <p:cNvSpPr txBox="1"/>
          <p:nvPr/>
        </p:nvSpPr>
        <p:spPr>
          <a:xfrm>
            <a:off x="2205318" y="6203576"/>
            <a:ext cx="9834281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323232"/>
                </a:solidFill>
                <a:ea typeface="+mn-lt"/>
                <a:cs typeface="+mn-lt"/>
              </a:rPr>
              <a:t>Soneson, C., Delorenzi, M. A comparison of methods for differential expression analysis of RNA-seq data. </a:t>
            </a:r>
          </a:p>
          <a:p>
            <a:r>
              <a:rPr lang="en-US" sz="1600" i="1" dirty="0">
                <a:solidFill>
                  <a:srgbClr val="323232"/>
                </a:solidFill>
                <a:ea typeface="+mn-lt"/>
                <a:cs typeface="+mn-lt"/>
              </a:rPr>
              <a:t>BMC Bioinformatics</a:t>
            </a:r>
            <a:r>
              <a:rPr lang="en-US" sz="1600" dirty="0">
                <a:solidFill>
                  <a:srgbClr val="323232"/>
                </a:solidFill>
                <a:ea typeface="+mn-lt"/>
                <a:cs typeface="+mn-lt"/>
              </a:rPr>
              <a:t> </a:t>
            </a:r>
            <a:r>
              <a:rPr lang="en-US" sz="1600" b="1" dirty="0">
                <a:solidFill>
                  <a:srgbClr val="323232"/>
                </a:solidFill>
                <a:ea typeface="+mn-lt"/>
                <a:cs typeface="+mn-lt"/>
              </a:rPr>
              <a:t>14</a:t>
            </a:r>
            <a:r>
              <a:rPr lang="en-US" sz="1600" dirty="0">
                <a:solidFill>
                  <a:srgbClr val="323232"/>
                </a:solidFill>
                <a:ea typeface="+mn-lt"/>
                <a:cs typeface="+mn-lt"/>
              </a:rPr>
              <a:t>, 91 (2013). </a:t>
            </a:r>
            <a:endParaRPr lang="en-US" sz="1600" dirty="0">
              <a:solidFill>
                <a:srgbClr val="323232"/>
              </a:solidFill>
            </a:endParaRPr>
          </a:p>
          <a:p>
            <a:endParaRPr lang="en-US" sz="2000">
              <a:latin typeface="Corbel"/>
              <a:cs typeface="Arial"/>
            </a:endParaRPr>
          </a:p>
        </p:txBody>
      </p:sp>
      <p:pic>
        <p:nvPicPr>
          <p:cNvPr id="9" name="Picture 8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AB325C8B-64DC-BBD8-7390-BE6D8EA974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8" r="2070"/>
          <a:stretch/>
        </p:blipFill>
        <p:spPr>
          <a:xfrm>
            <a:off x="6527170" y="708212"/>
            <a:ext cx="5019001" cy="46975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C91FF7-579A-9F5E-E5B8-283899F1D275}"/>
              </a:ext>
            </a:extLst>
          </p:cNvPr>
          <p:cNvSpPr txBox="1"/>
          <p:nvPr/>
        </p:nvSpPr>
        <p:spPr>
          <a:xfrm>
            <a:off x="1987437" y="5273742"/>
            <a:ext cx="430306" cy="593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E5C432-38EF-EA3C-3B2D-441B7CFA1A51}"/>
              </a:ext>
            </a:extLst>
          </p:cNvPr>
          <p:cNvSpPr txBox="1"/>
          <p:nvPr/>
        </p:nvSpPr>
        <p:spPr>
          <a:xfrm>
            <a:off x="3359037" y="5273742"/>
            <a:ext cx="430306" cy="593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DAFB1E-DACB-A376-85A6-4E5FBB3E3924}"/>
              </a:ext>
            </a:extLst>
          </p:cNvPr>
          <p:cNvSpPr txBox="1"/>
          <p:nvPr/>
        </p:nvSpPr>
        <p:spPr>
          <a:xfrm>
            <a:off x="4649954" y="5327530"/>
            <a:ext cx="5916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dirty="0"/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3310B4-DA6A-DFEC-79C2-F8A8A5F7DF02}"/>
              </a:ext>
            </a:extLst>
          </p:cNvPr>
          <p:cNvSpPr txBox="1"/>
          <p:nvPr/>
        </p:nvSpPr>
        <p:spPr>
          <a:xfrm>
            <a:off x="7751742" y="5318565"/>
            <a:ext cx="484094" cy="593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42EEAE-F89D-0264-C5FB-3F31CAE4614C}"/>
              </a:ext>
            </a:extLst>
          </p:cNvPr>
          <p:cNvSpPr txBox="1"/>
          <p:nvPr/>
        </p:nvSpPr>
        <p:spPr>
          <a:xfrm>
            <a:off x="9105413" y="5273742"/>
            <a:ext cx="484094" cy="593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16392A-D364-4E2F-A71C-5443EC418068}"/>
              </a:ext>
            </a:extLst>
          </p:cNvPr>
          <p:cNvSpPr txBox="1"/>
          <p:nvPr/>
        </p:nvSpPr>
        <p:spPr>
          <a:xfrm>
            <a:off x="10387365" y="5327530"/>
            <a:ext cx="6454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4824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More reads or more replicates?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6163460"/>
            <a:ext cx="10515600" cy="3135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>
                <a:solidFill>
                  <a:srgbClr val="000000"/>
                </a:solidFill>
                <a:latin typeface="Corbel"/>
                <a:ea typeface="Tahoma"/>
                <a:cs typeface="Arial"/>
              </a:rPr>
              <a:t>From Liu et al. 2014.  RNA-seq differential expression studies: more sequence or more replication?</a:t>
            </a:r>
            <a:endParaRPr lang="en-US" sz="1400">
              <a:latin typeface="Corbel"/>
              <a:ea typeface="Tahoma"/>
              <a:cs typeface="Arial"/>
            </a:endParaRPr>
          </a:p>
          <a:p>
            <a:pPr lvl="1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4ABE20-79E3-824E-416B-70AA2030A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742950"/>
            <a:ext cx="733425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6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More reads or more replicates?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6163460"/>
            <a:ext cx="10515600" cy="3135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>
                <a:solidFill>
                  <a:srgbClr val="000000"/>
                </a:solidFill>
                <a:latin typeface="Corbel"/>
                <a:ea typeface="Tahoma"/>
                <a:cs typeface="Arial"/>
              </a:rPr>
              <a:t>From Liu et al. 2014.  RNA-seq differential expression studies: more sequence or more replication?</a:t>
            </a:r>
            <a:endParaRPr lang="en-US" sz="1400">
              <a:latin typeface="Corbel"/>
              <a:ea typeface="Tahoma"/>
              <a:cs typeface="Arial"/>
            </a:endParaRPr>
          </a:p>
          <a:p>
            <a:pPr lvl="1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4ABE20-79E3-824E-416B-70AA2030A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742950"/>
            <a:ext cx="7334250" cy="5372100"/>
          </a:xfrm>
          <a:prstGeom prst="rect">
            <a:avLst/>
          </a:prstGeom>
        </p:spPr>
      </p:pic>
      <p:sp>
        <p:nvSpPr>
          <p:cNvPr id="5" name="Star: 5 Points 4">
            <a:extLst>
              <a:ext uri="{FF2B5EF4-FFF2-40B4-BE49-F238E27FC236}">
                <a16:creationId xmlns:a16="http://schemas.microsoft.com/office/drawing/2014/main" id="{B9B4D8A3-992D-A0CE-8F9B-A1D3C7D2D05E}"/>
              </a:ext>
            </a:extLst>
          </p:cNvPr>
          <p:cNvSpPr/>
          <p:nvPr/>
        </p:nvSpPr>
        <p:spPr>
          <a:xfrm>
            <a:off x="4916078" y="1864149"/>
            <a:ext cx="183823" cy="175968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BA0F9650-6506-7121-7807-08FC8E5367B3}"/>
              </a:ext>
            </a:extLst>
          </p:cNvPr>
          <p:cNvSpPr/>
          <p:nvPr/>
        </p:nvSpPr>
        <p:spPr>
          <a:xfrm>
            <a:off x="7987645" y="3670954"/>
            <a:ext cx="183823" cy="175968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1AA93670-8A7E-F281-C8A5-35B9171E3327}"/>
              </a:ext>
            </a:extLst>
          </p:cNvPr>
          <p:cNvSpPr/>
          <p:nvPr/>
        </p:nvSpPr>
        <p:spPr>
          <a:xfrm>
            <a:off x="5670223" y="2390479"/>
            <a:ext cx="183823" cy="175968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A8FC6-4F8B-8CFB-8F45-F6DC3AB2745A}"/>
              </a:ext>
            </a:extLst>
          </p:cNvPr>
          <p:cNvSpPr txBox="1"/>
          <p:nvPr/>
        </p:nvSpPr>
        <p:spPr>
          <a:xfrm>
            <a:off x="7072459" y="3900634"/>
            <a:ext cx="1454871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 reps - 30M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75D3E9-5F51-F582-1319-729880C784B6}"/>
              </a:ext>
            </a:extLst>
          </p:cNvPr>
          <p:cNvSpPr txBox="1"/>
          <p:nvPr/>
        </p:nvSpPr>
        <p:spPr>
          <a:xfrm>
            <a:off x="5359923" y="2573026"/>
            <a:ext cx="1454871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 reps - 15M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6ADC1-F951-0531-4AE9-BD55ABE3D740}"/>
              </a:ext>
            </a:extLst>
          </p:cNvPr>
          <p:cNvSpPr txBox="1"/>
          <p:nvPr/>
        </p:nvSpPr>
        <p:spPr>
          <a:xfrm>
            <a:off x="4275840" y="1253273"/>
            <a:ext cx="1454871" cy="365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 reps - 10M</a:t>
            </a:r>
          </a:p>
        </p:txBody>
      </p:sp>
    </p:spTree>
    <p:extLst>
      <p:ext uri="{BB962C8B-B14F-4D97-AF65-F5344CB8AC3E}">
        <p14:creationId xmlns:p14="http://schemas.microsoft.com/office/powerpoint/2010/main" val="38165221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RNA sample preparation - RIN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815F236-9C49-3C9B-6DE4-0EAE53395A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819275"/>
            <a:ext cx="526801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ea typeface="Tahoma"/>
                <a:cs typeface="Gill Sans Light"/>
              </a:rPr>
              <a:t>Sample quality is critically important: we cannot make up for poor data</a:t>
            </a:r>
          </a:p>
          <a:p>
            <a:pPr marL="342900" indent="-342900">
              <a:buChar char="•"/>
            </a:pPr>
            <a:r>
              <a:rPr lang="en-US" dirty="0">
                <a:ea typeface="Tahoma"/>
                <a:cs typeface="Gill Sans Light"/>
              </a:rPr>
              <a:t>RNA Integrity Number (RIN) </a:t>
            </a:r>
            <a:endParaRPr lang="en-US" dirty="0"/>
          </a:p>
          <a:p>
            <a:pPr marL="342900" indent="-342900">
              <a:buChar char="•"/>
            </a:pPr>
            <a:endParaRPr lang="en-US" dirty="0"/>
          </a:p>
          <a:p>
            <a:pPr marL="342900" indent="-342900">
              <a:buChar char="•"/>
            </a:pPr>
            <a:r>
              <a:rPr lang="en-US" dirty="0">
                <a:ea typeface="Tahoma"/>
                <a:cs typeface="Gill Sans Light"/>
              </a:rPr>
              <a:t>Minimums:</a:t>
            </a:r>
          </a:p>
          <a:p>
            <a:pPr marL="701675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Tahoma"/>
                <a:cs typeface="Gill Sans Light"/>
              </a:rPr>
              <a:t>7-8 </a:t>
            </a:r>
            <a:r>
              <a:rPr lang="en-US">
                <a:ea typeface="Tahoma"/>
                <a:cs typeface="Gill Sans Light"/>
              </a:rPr>
              <a:t> </a:t>
            </a:r>
            <a:r>
              <a:rPr lang="en-US" dirty="0">
                <a:ea typeface="Tahoma"/>
                <a:cs typeface="Gill Sans Light"/>
              </a:rPr>
              <a:t>: </a:t>
            </a:r>
            <a:r>
              <a:rPr lang="en-US" dirty="0" err="1">
                <a:ea typeface="Tahoma"/>
                <a:cs typeface="Gill Sans Light"/>
              </a:rPr>
              <a:t>eukaryot</a:t>
            </a:r>
            <a:r>
              <a:rPr lang="en-US" dirty="0">
                <a:ea typeface="Tahoma"/>
                <a:cs typeface="Gill Sans Light"/>
              </a:rPr>
              <a:t> mRNA</a:t>
            </a:r>
          </a:p>
          <a:p>
            <a:pPr marL="701675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Tahoma"/>
                <a:cs typeface="Gill Sans Light"/>
              </a:rPr>
              <a:t>9      : bacterial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5B6AB7-5C34-774A-A06B-FF1474C64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511" y="704801"/>
            <a:ext cx="4202979" cy="65796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797413-DD58-4C97-C2BF-01AD7BBF5E5B}"/>
              </a:ext>
            </a:extLst>
          </p:cNvPr>
          <p:cNvSpPr txBox="1"/>
          <p:nvPr/>
        </p:nvSpPr>
        <p:spPr>
          <a:xfrm>
            <a:off x="1009649" y="6315070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323232"/>
                </a:solidFill>
                <a:latin typeface="Arial"/>
                <a:cs typeface="Arial"/>
              </a:rPr>
              <a:t>Schroeder </a:t>
            </a:r>
            <a:r>
              <a:rPr lang="en-US" sz="1200" i="1" dirty="0">
                <a:solidFill>
                  <a:srgbClr val="323232"/>
                </a:solidFill>
                <a:latin typeface="Arial"/>
                <a:cs typeface="Arial"/>
              </a:rPr>
              <a:t>et al</a:t>
            </a:r>
            <a:r>
              <a:rPr lang="en-US" sz="1200" dirty="0">
                <a:solidFill>
                  <a:srgbClr val="323232"/>
                </a:solidFill>
                <a:latin typeface="Arial"/>
                <a:cs typeface="Arial"/>
              </a:rPr>
              <a:t> BMC Mol Biol 2006</a:t>
            </a: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3431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RNA sample preparation - RIN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797413-DD58-4C97-C2BF-01AD7BBF5E5B}"/>
              </a:ext>
            </a:extLst>
          </p:cNvPr>
          <p:cNvSpPr txBox="1"/>
          <p:nvPr/>
        </p:nvSpPr>
        <p:spPr>
          <a:xfrm>
            <a:off x="9171690" y="486163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323232"/>
                </a:solidFill>
                <a:latin typeface="Arial"/>
                <a:cs typeface="Arial"/>
              </a:rPr>
              <a:t>Schroeder </a:t>
            </a:r>
            <a:r>
              <a:rPr lang="en-US" sz="1200" i="1" dirty="0">
                <a:solidFill>
                  <a:srgbClr val="323232"/>
                </a:solidFill>
                <a:latin typeface="Arial"/>
                <a:cs typeface="Arial"/>
              </a:rPr>
              <a:t>et al</a:t>
            </a:r>
            <a:r>
              <a:rPr lang="en-US" sz="1200" dirty="0">
                <a:solidFill>
                  <a:srgbClr val="323232"/>
                </a:solidFill>
                <a:latin typeface="Arial"/>
                <a:cs typeface="Arial"/>
              </a:rPr>
              <a:t> BMC Mol Biol 2006</a:t>
            </a:r>
            <a:endParaRPr lang="en-US" sz="1200" dirty="0">
              <a:latin typeface="Arial"/>
              <a:cs typeface="Arial"/>
            </a:endParaRPr>
          </a:p>
        </p:txBody>
      </p:sp>
      <p:pic>
        <p:nvPicPr>
          <p:cNvPr id="4" name="Picture 3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AEA99447-8BA3-1E50-0E59-A0D5F1756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37" y="680301"/>
            <a:ext cx="5843613" cy="563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D34838-51EE-648F-575E-736A38CD7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511" y="704801"/>
            <a:ext cx="4202979" cy="657961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956499-804D-2388-9A97-3CF0C973C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344" y="6312718"/>
            <a:ext cx="7074817" cy="6356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 dirty="0">
                <a:ea typeface="+mn-lt"/>
                <a:cs typeface="+mn-lt"/>
              </a:rPr>
              <a:t>Sigurgeirsson B, Emanuelsson O, Lundeberg J. Sequencing degraded RNA addressed by 3' tag counting. </a:t>
            </a:r>
            <a:endParaRPr lang="en-US" sz="1100"/>
          </a:p>
          <a:p>
            <a:r>
              <a:rPr lang="en-US" sz="1100" dirty="0" err="1">
                <a:ea typeface="+mn-lt"/>
                <a:cs typeface="+mn-lt"/>
              </a:rPr>
              <a:t>PLoS</a:t>
            </a:r>
            <a:r>
              <a:rPr lang="en-US" sz="1100" dirty="0">
                <a:ea typeface="+mn-lt"/>
                <a:cs typeface="+mn-lt"/>
              </a:rPr>
              <a:t> One. 2014 Mar 14;9(3):e91851.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0728711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slides Outline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CA07-7015-2FA9-9ED0-2D8EADDC4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RNA and molecular biology</a:t>
            </a:r>
            <a:endParaRPr lang="en-GB" dirty="0"/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Main challenges for </a:t>
            </a:r>
            <a:r>
              <a:rPr lang="en-GB" dirty="0" err="1">
                <a:ea typeface="Tahoma"/>
                <a:cs typeface="Gill Sans Light"/>
              </a:rPr>
              <a:t>RNAseq</a:t>
            </a:r>
            <a:endParaRPr lang="en-GB" dirty="0">
              <a:ea typeface="Tahoma"/>
              <a:cs typeface="Gill Sans Light"/>
            </a:endParaRPr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Major Sequencing technologies</a:t>
            </a:r>
          </a:p>
          <a:p>
            <a:pPr marL="815975" lvl="1" indent="-457200">
              <a:buFont typeface="Arial"/>
              <a:buChar char="•"/>
            </a:pPr>
            <a:r>
              <a:rPr lang="en-GB" dirty="0">
                <a:ea typeface="Tahoma"/>
                <a:cs typeface="Gill Sans Light"/>
              </a:rPr>
              <a:t>Planning your sequencing : choices, number of samples, …</a:t>
            </a:r>
            <a:endParaRPr lang="en-GB"/>
          </a:p>
          <a:p>
            <a:pPr marL="815975" lvl="1" indent="-457200">
              <a:buFont typeface="Arial"/>
              <a:buChar char="•"/>
            </a:pPr>
            <a:r>
              <a:rPr lang="en-GB" b="1" dirty="0">
                <a:ea typeface="Tahoma"/>
                <a:cs typeface="Gill Sans Light"/>
              </a:rPr>
              <a:t>Bioinformatics analysis overview</a:t>
            </a:r>
            <a:endParaRPr lang="en-GB" dirty="0"/>
          </a:p>
          <a:p>
            <a:pPr lvl="1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5943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Basic </a:t>
            </a:r>
            <a:r>
              <a:rPr lang="en-GB" dirty="0" err="1">
                <a:ea typeface="Verdana"/>
                <a:cs typeface="Gill Sans"/>
              </a:rPr>
              <a:t>RNAseq</a:t>
            </a:r>
            <a:r>
              <a:rPr lang="en-GB" dirty="0">
                <a:ea typeface="Verdana"/>
                <a:cs typeface="Gill Sans"/>
              </a:rPr>
              <a:t> protocol overview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127BB-A1B1-BD97-8EB5-26E8D764EFE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484565" y="1124640"/>
            <a:ext cx="3849840" cy="5445720"/>
          </a:xfrm>
          <a:prstGeom prst="rect">
            <a:avLst/>
          </a:prstGeom>
          <a:ln>
            <a:noFill/>
          </a:ln>
          <a:effectLst>
            <a:outerShdw blurRad="292100" dist="138988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96B8CB-C7FA-0512-C2B9-75D0B008418D}"/>
              </a:ext>
            </a:extLst>
          </p:cNvPr>
          <p:cNvPicPr/>
          <p:nvPr/>
        </p:nvPicPr>
        <p:blipFill>
          <a:blip r:embed="rId3"/>
          <a:srcRect t="50066" r="34744"/>
          <a:stretch/>
        </p:blipFill>
        <p:spPr>
          <a:xfrm>
            <a:off x="5516925" y="1124640"/>
            <a:ext cx="4655880" cy="2157120"/>
          </a:xfrm>
          <a:prstGeom prst="rect">
            <a:avLst/>
          </a:prstGeom>
          <a:ln>
            <a:noFill/>
          </a:ln>
          <a:effectLst>
            <a:outerShdw blurRad="292100" dist="138988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CECE51-72F7-876A-7114-0D704F72A4F6}"/>
              </a:ext>
            </a:extLst>
          </p:cNvPr>
          <p:cNvPicPr/>
          <p:nvPr/>
        </p:nvPicPr>
        <p:blipFill>
          <a:blip r:embed="rId4"/>
          <a:srcRect l="7002" r="54997"/>
          <a:stretch/>
        </p:blipFill>
        <p:spPr>
          <a:xfrm>
            <a:off x="7128645" y="4293000"/>
            <a:ext cx="3004920" cy="2470320"/>
          </a:xfrm>
          <a:prstGeom prst="rect">
            <a:avLst/>
          </a:prstGeom>
          <a:ln>
            <a:noFill/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0F6F9F6-87E8-20B9-A59C-54A2DD23EF38}"/>
              </a:ext>
            </a:extLst>
          </p:cNvPr>
          <p:cNvSpPr/>
          <p:nvPr/>
        </p:nvSpPr>
        <p:spPr>
          <a:xfrm>
            <a:off x="5521071" y="5291709"/>
            <a:ext cx="1502283" cy="484631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FB37705-3A49-1D35-0445-BE7B1905C05F}"/>
              </a:ext>
            </a:extLst>
          </p:cNvPr>
          <p:cNvSpPr/>
          <p:nvPr/>
        </p:nvSpPr>
        <p:spPr>
          <a:xfrm rot="-5400000">
            <a:off x="8045195" y="3701033"/>
            <a:ext cx="692658" cy="49415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450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RNAseq</a:t>
            </a:r>
            <a:r>
              <a:rPr lang="en-GB" dirty="0">
                <a:ea typeface="Verdana"/>
                <a:cs typeface="Gill Sans"/>
              </a:rPr>
              <a:t> data analysis - basic pipeline</a:t>
            </a:r>
            <a:endParaRPr lang="en-GB" dirty="0"/>
          </a:p>
        </p:txBody>
      </p:sp>
      <p:sp>
        <p:nvSpPr>
          <p:cNvPr id="3" name="Line 1">
            <a:extLst>
              <a:ext uri="{FF2B5EF4-FFF2-40B4-BE49-F238E27FC236}">
                <a16:creationId xmlns:a16="http://schemas.microsoft.com/office/drawing/2014/main" id="{70BECAC0-EEDE-C928-9C69-62580FDA84E8}"/>
              </a:ext>
            </a:extLst>
          </p:cNvPr>
          <p:cNvSpPr/>
          <p:nvPr/>
        </p:nvSpPr>
        <p:spPr>
          <a:xfrm>
            <a:off x="3097530" y="5101005"/>
            <a:ext cx="82296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803123EF-EB38-BB98-2E7F-6E70D351B52E}"/>
              </a:ext>
            </a:extLst>
          </p:cNvPr>
          <p:cNvSpPr/>
          <p:nvPr/>
        </p:nvSpPr>
        <p:spPr>
          <a:xfrm>
            <a:off x="5336730" y="5998845"/>
            <a:ext cx="193680" cy="0"/>
          </a:xfrm>
          <a:prstGeom prst="line">
            <a:avLst/>
          </a:prstGeom>
          <a:ln w="7632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5429B9B6-F022-9482-0B46-C53F924E95C9}"/>
              </a:ext>
            </a:extLst>
          </p:cNvPr>
          <p:cNvSpPr/>
          <p:nvPr/>
        </p:nvSpPr>
        <p:spPr>
          <a:xfrm>
            <a:off x="2724570" y="6090285"/>
            <a:ext cx="82296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9157D905-11B7-F5C7-18BC-51AD871BA7BB}"/>
              </a:ext>
            </a:extLst>
          </p:cNvPr>
          <p:cNvSpPr/>
          <p:nvPr/>
        </p:nvSpPr>
        <p:spPr>
          <a:xfrm>
            <a:off x="2266290" y="510136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31F94216-0EB3-A34B-43B7-CB83E7499711}"/>
              </a:ext>
            </a:extLst>
          </p:cNvPr>
          <p:cNvSpPr/>
          <p:nvPr/>
        </p:nvSpPr>
        <p:spPr>
          <a:xfrm>
            <a:off x="2274570" y="422188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1A16E2ED-4A6D-77AC-D521-AF87F7F69E3E}"/>
              </a:ext>
            </a:extLst>
          </p:cNvPr>
          <p:cNvSpPr/>
          <p:nvPr/>
        </p:nvSpPr>
        <p:spPr>
          <a:xfrm flipH="1">
            <a:off x="5145930" y="4230165"/>
            <a:ext cx="5608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ACBAAC57-4093-188F-47D2-126C76DC25D4}"/>
              </a:ext>
            </a:extLst>
          </p:cNvPr>
          <p:cNvSpPr/>
          <p:nvPr/>
        </p:nvSpPr>
        <p:spPr>
          <a:xfrm flipH="1">
            <a:off x="3329010" y="4230165"/>
            <a:ext cx="5608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E67E8712-9B1E-52F3-38F5-0D7AAE1703D7}"/>
              </a:ext>
            </a:extLst>
          </p:cNvPr>
          <p:cNvSpPr/>
          <p:nvPr/>
        </p:nvSpPr>
        <p:spPr>
          <a:xfrm>
            <a:off x="6459570" y="335968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0B578083-4813-0089-4F37-0C59ACAFF67D}"/>
              </a:ext>
            </a:extLst>
          </p:cNvPr>
          <p:cNvSpPr/>
          <p:nvPr/>
        </p:nvSpPr>
        <p:spPr>
          <a:xfrm>
            <a:off x="4011930" y="1243965"/>
            <a:ext cx="1807560" cy="76068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9DA10F-9B9C-9C5F-C3D3-48AB1314813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204650" y="929685"/>
            <a:ext cx="1252440" cy="679680"/>
          </a:xfrm>
          <a:prstGeom prst="rect">
            <a:avLst/>
          </a:prstGeom>
          <a:ln>
            <a:noFill/>
          </a:ln>
        </p:spPr>
      </p:pic>
      <p:sp>
        <p:nvSpPr>
          <p:cNvPr id="18" name="CustomShape 11">
            <a:extLst>
              <a:ext uri="{FF2B5EF4-FFF2-40B4-BE49-F238E27FC236}">
                <a16:creationId xmlns:a16="http://schemas.microsoft.com/office/drawing/2014/main" id="{D11332CF-85D1-D577-A492-5AD944E2B987}"/>
              </a:ext>
            </a:extLst>
          </p:cNvPr>
          <p:cNvSpPr/>
          <p:nvPr/>
        </p:nvSpPr>
        <p:spPr>
          <a:xfrm>
            <a:off x="1132650" y="1491645"/>
            <a:ext cx="1964520" cy="30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323232"/>
                </a:solidFill>
                <a:latin typeface="Cambria"/>
                <a:ea typeface="DejaVu Sans"/>
              </a:rPr>
              <a:t>Sequencing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323232"/>
                </a:solidFill>
                <a:latin typeface="Cambria"/>
                <a:ea typeface="DejaVu Sans"/>
              </a:rPr>
              <a:t>facility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9" name="CustomShape 12">
            <a:extLst>
              <a:ext uri="{FF2B5EF4-FFF2-40B4-BE49-F238E27FC236}">
                <a16:creationId xmlns:a16="http://schemas.microsoft.com/office/drawing/2014/main" id="{73A432FC-EBC3-0EDA-177C-E3380ECD1C1B}"/>
              </a:ext>
            </a:extLst>
          </p:cNvPr>
          <p:cNvSpPr/>
          <p:nvPr/>
        </p:nvSpPr>
        <p:spPr>
          <a:xfrm>
            <a:off x="2914650" y="1012485"/>
            <a:ext cx="1371240" cy="36540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Raw reads</a:t>
            </a:r>
          </a:p>
        </p:txBody>
      </p:sp>
      <p:sp>
        <p:nvSpPr>
          <p:cNvPr id="20" name="CustomShape 13">
            <a:extLst>
              <a:ext uri="{FF2B5EF4-FFF2-40B4-BE49-F238E27FC236}">
                <a16:creationId xmlns:a16="http://schemas.microsoft.com/office/drawing/2014/main" id="{ED9F3242-0C13-AD9F-860F-1D69BD66E7F8}"/>
              </a:ext>
            </a:extLst>
          </p:cNvPr>
          <p:cNvSpPr/>
          <p:nvPr/>
        </p:nvSpPr>
        <p:spPr>
          <a:xfrm>
            <a:off x="5773770" y="2815365"/>
            <a:ext cx="1371240" cy="6019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Mapped reads</a:t>
            </a:r>
          </a:p>
        </p:txBody>
      </p:sp>
      <p:sp>
        <p:nvSpPr>
          <p:cNvPr id="21" name="CustomShape 14">
            <a:extLst>
              <a:ext uri="{FF2B5EF4-FFF2-40B4-BE49-F238E27FC236}">
                <a16:creationId xmlns:a16="http://schemas.microsoft.com/office/drawing/2014/main" id="{6D77A17A-823B-3D57-D23D-4BA1800C91BE}"/>
              </a:ext>
            </a:extLst>
          </p:cNvPr>
          <p:cNvSpPr/>
          <p:nvPr/>
        </p:nvSpPr>
        <p:spPr>
          <a:xfrm>
            <a:off x="5819490" y="2004645"/>
            <a:ext cx="1279800" cy="35964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mapping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" name="CustomShape 15">
            <a:extLst>
              <a:ext uri="{FF2B5EF4-FFF2-40B4-BE49-F238E27FC236}">
                <a16:creationId xmlns:a16="http://schemas.microsoft.com/office/drawing/2014/main" id="{029FA7BA-FF25-842F-67BE-EF195257FE64}"/>
              </a:ext>
            </a:extLst>
          </p:cNvPr>
          <p:cNvSpPr/>
          <p:nvPr/>
        </p:nvSpPr>
        <p:spPr>
          <a:xfrm>
            <a:off x="5545170" y="3929205"/>
            <a:ext cx="182844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expression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quantification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" name="CustomShape 16">
            <a:extLst>
              <a:ext uri="{FF2B5EF4-FFF2-40B4-BE49-F238E27FC236}">
                <a16:creationId xmlns:a16="http://schemas.microsoft.com/office/drawing/2014/main" id="{795D276C-9915-8E9E-A776-35682B97BE89}"/>
              </a:ext>
            </a:extLst>
          </p:cNvPr>
          <p:cNvSpPr/>
          <p:nvPr/>
        </p:nvSpPr>
        <p:spPr>
          <a:xfrm>
            <a:off x="3774330" y="3929205"/>
            <a:ext cx="1371240" cy="6019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Expression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matrix</a:t>
            </a:r>
          </a:p>
        </p:txBody>
      </p:sp>
      <p:sp>
        <p:nvSpPr>
          <p:cNvPr id="24" name="CustomShape 17">
            <a:extLst>
              <a:ext uri="{FF2B5EF4-FFF2-40B4-BE49-F238E27FC236}">
                <a16:creationId xmlns:a16="http://schemas.microsoft.com/office/drawing/2014/main" id="{D144021D-3055-72F3-A4B2-5D0244B87E40}"/>
              </a:ext>
            </a:extLst>
          </p:cNvPr>
          <p:cNvSpPr/>
          <p:nvPr/>
        </p:nvSpPr>
        <p:spPr>
          <a:xfrm>
            <a:off x="1464210" y="5670885"/>
            <a:ext cx="1603800" cy="85788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Differential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Expression analysis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5" name="CustomShape 18">
            <a:extLst>
              <a:ext uri="{FF2B5EF4-FFF2-40B4-BE49-F238E27FC236}">
                <a16:creationId xmlns:a16="http://schemas.microsoft.com/office/drawing/2014/main" id="{AB91353F-9F89-3E97-6742-C2C733D89384}"/>
              </a:ext>
            </a:extLst>
          </p:cNvPr>
          <p:cNvSpPr/>
          <p:nvPr/>
        </p:nvSpPr>
        <p:spPr>
          <a:xfrm>
            <a:off x="3547530" y="5790405"/>
            <a:ext cx="1824840" cy="61884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Table of DE genes/transcript</a:t>
            </a:r>
          </a:p>
        </p:txBody>
      </p:sp>
      <p:sp>
        <p:nvSpPr>
          <p:cNvPr id="26" name="CustomShape 19">
            <a:extLst>
              <a:ext uri="{FF2B5EF4-FFF2-40B4-BE49-F238E27FC236}">
                <a16:creationId xmlns:a16="http://schemas.microsoft.com/office/drawing/2014/main" id="{993ADF29-ACB0-902D-FA65-B70DE2A6FDB6}"/>
              </a:ext>
            </a:extLst>
          </p:cNvPr>
          <p:cNvSpPr/>
          <p:nvPr/>
        </p:nvSpPr>
        <p:spPr>
          <a:xfrm>
            <a:off x="5899050" y="5439045"/>
            <a:ext cx="280836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Pathway enrichment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analysis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" name="CustomShape 20">
            <a:extLst>
              <a:ext uri="{FF2B5EF4-FFF2-40B4-BE49-F238E27FC236}">
                <a16:creationId xmlns:a16="http://schemas.microsoft.com/office/drawing/2014/main" id="{49AB2BAA-F0C1-BCCC-287F-C958CCCC7C20}"/>
              </a:ext>
            </a:extLst>
          </p:cNvPr>
          <p:cNvSpPr/>
          <p:nvPr/>
        </p:nvSpPr>
        <p:spPr>
          <a:xfrm>
            <a:off x="1353690" y="4791405"/>
            <a:ext cx="1824840" cy="61884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Normalized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counts</a:t>
            </a:r>
          </a:p>
        </p:txBody>
      </p:sp>
      <p:sp>
        <p:nvSpPr>
          <p:cNvPr id="28" name="CustomShape 21">
            <a:extLst>
              <a:ext uri="{FF2B5EF4-FFF2-40B4-BE49-F238E27FC236}">
                <a16:creationId xmlns:a16="http://schemas.microsoft.com/office/drawing/2014/main" id="{9311A648-6A5C-595B-EFA9-1D98A69B7577}"/>
              </a:ext>
            </a:extLst>
          </p:cNvPr>
          <p:cNvSpPr/>
          <p:nvPr/>
        </p:nvSpPr>
        <p:spPr>
          <a:xfrm>
            <a:off x="1205370" y="3929205"/>
            <a:ext cx="212148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normalization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across libraries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9" name="CustomShape 22">
            <a:extLst>
              <a:ext uri="{FF2B5EF4-FFF2-40B4-BE49-F238E27FC236}">
                <a16:creationId xmlns:a16="http://schemas.microsoft.com/office/drawing/2014/main" id="{DCA02250-4A08-5E02-DC41-79B571BBD3CB}"/>
              </a:ext>
            </a:extLst>
          </p:cNvPr>
          <p:cNvSpPr/>
          <p:nvPr/>
        </p:nvSpPr>
        <p:spPr>
          <a:xfrm>
            <a:off x="3920490" y="4917405"/>
            <a:ext cx="416520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0" name="CustomShape 23">
            <a:extLst>
              <a:ext uri="{FF2B5EF4-FFF2-40B4-BE49-F238E27FC236}">
                <a16:creationId xmlns:a16="http://schemas.microsoft.com/office/drawing/2014/main" id="{39D2768D-BFAC-18BE-5E31-40FCEDE732A6}"/>
              </a:ext>
            </a:extLst>
          </p:cNvPr>
          <p:cNvSpPr/>
          <p:nvPr/>
        </p:nvSpPr>
        <p:spPr>
          <a:xfrm>
            <a:off x="5899050" y="6127365"/>
            <a:ext cx="416520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E0D61AD8-CC5E-18A3-6D23-3F913AA69874}"/>
              </a:ext>
            </a:extLst>
          </p:cNvPr>
          <p:cNvSpPr/>
          <p:nvPr/>
        </p:nvSpPr>
        <p:spPr>
          <a:xfrm>
            <a:off x="6459570" y="2364645"/>
            <a:ext cx="0" cy="4507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49CCAC66-7C5E-1307-9C61-D6BC9C021C40}"/>
              </a:ext>
            </a:extLst>
          </p:cNvPr>
          <p:cNvSpPr/>
          <p:nvPr/>
        </p:nvSpPr>
        <p:spPr>
          <a:xfrm>
            <a:off x="5566410" y="5670885"/>
            <a:ext cx="33264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61D1482C-79E8-FE0A-052C-B93A5D0FE337}"/>
              </a:ext>
            </a:extLst>
          </p:cNvPr>
          <p:cNvSpPr/>
          <p:nvPr/>
        </p:nvSpPr>
        <p:spPr>
          <a:xfrm>
            <a:off x="5566410" y="6326805"/>
            <a:ext cx="33264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AFF0DB09-3700-2447-0FAD-D0574E245450}"/>
              </a:ext>
            </a:extLst>
          </p:cNvPr>
          <p:cNvSpPr/>
          <p:nvPr/>
        </p:nvSpPr>
        <p:spPr>
          <a:xfrm>
            <a:off x="5566410" y="5633085"/>
            <a:ext cx="0" cy="731520"/>
          </a:xfrm>
          <a:prstGeom prst="line">
            <a:avLst/>
          </a:prstGeom>
          <a:ln w="7632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643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RNAseq</a:t>
            </a:r>
            <a:r>
              <a:rPr lang="en-GB" dirty="0">
                <a:ea typeface="Verdana"/>
                <a:cs typeface="Gill Sans"/>
              </a:rPr>
              <a:t> data analysis - basic pipeline</a:t>
            </a:r>
            <a:endParaRPr lang="en-GB" dirty="0"/>
          </a:p>
        </p:txBody>
      </p:sp>
      <p:sp>
        <p:nvSpPr>
          <p:cNvPr id="3" name="Line 1">
            <a:extLst>
              <a:ext uri="{FF2B5EF4-FFF2-40B4-BE49-F238E27FC236}">
                <a16:creationId xmlns:a16="http://schemas.microsoft.com/office/drawing/2014/main" id="{70BECAC0-EEDE-C928-9C69-62580FDA84E8}"/>
              </a:ext>
            </a:extLst>
          </p:cNvPr>
          <p:cNvSpPr/>
          <p:nvPr/>
        </p:nvSpPr>
        <p:spPr>
          <a:xfrm>
            <a:off x="3097530" y="5101005"/>
            <a:ext cx="82296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803123EF-EB38-BB98-2E7F-6E70D351B52E}"/>
              </a:ext>
            </a:extLst>
          </p:cNvPr>
          <p:cNvSpPr/>
          <p:nvPr/>
        </p:nvSpPr>
        <p:spPr>
          <a:xfrm>
            <a:off x="5336730" y="5998845"/>
            <a:ext cx="193680" cy="0"/>
          </a:xfrm>
          <a:prstGeom prst="line">
            <a:avLst/>
          </a:prstGeom>
          <a:ln w="7632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5429B9B6-F022-9482-0B46-C53F924E95C9}"/>
              </a:ext>
            </a:extLst>
          </p:cNvPr>
          <p:cNvSpPr/>
          <p:nvPr/>
        </p:nvSpPr>
        <p:spPr>
          <a:xfrm>
            <a:off x="2724570" y="6090285"/>
            <a:ext cx="82296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9157D905-11B7-F5C7-18BC-51AD871BA7BB}"/>
              </a:ext>
            </a:extLst>
          </p:cNvPr>
          <p:cNvSpPr/>
          <p:nvPr/>
        </p:nvSpPr>
        <p:spPr>
          <a:xfrm>
            <a:off x="2266290" y="510136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31F94216-0EB3-A34B-43B7-CB83E7499711}"/>
              </a:ext>
            </a:extLst>
          </p:cNvPr>
          <p:cNvSpPr/>
          <p:nvPr/>
        </p:nvSpPr>
        <p:spPr>
          <a:xfrm>
            <a:off x="2274570" y="422188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1A16E2ED-4A6D-77AC-D521-AF87F7F69E3E}"/>
              </a:ext>
            </a:extLst>
          </p:cNvPr>
          <p:cNvSpPr/>
          <p:nvPr/>
        </p:nvSpPr>
        <p:spPr>
          <a:xfrm flipH="1">
            <a:off x="5145930" y="4230165"/>
            <a:ext cx="5608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ACBAAC57-4093-188F-47D2-126C76DC25D4}"/>
              </a:ext>
            </a:extLst>
          </p:cNvPr>
          <p:cNvSpPr/>
          <p:nvPr/>
        </p:nvSpPr>
        <p:spPr>
          <a:xfrm flipH="1">
            <a:off x="3329010" y="4230165"/>
            <a:ext cx="5608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E67E8712-9B1E-52F3-38F5-0D7AAE1703D7}"/>
              </a:ext>
            </a:extLst>
          </p:cNvPr>
          <p:cNvSpPr/>
          <p:nvPr/>
        </p:nvSpPr>
        <p:spPr>
          <a:xfrm>
            <a:off x="6459570" y="335968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0B578083-4813-0089-4F37-0C59ACAFF67D}"/>
              </a:ext>
            </a:extLst>
          </p:cNvPr>
          <p:cNvSpPr/>
          <p:nvPr/>
        </p:nvSpPr>
        <p:spPr>
          <a:xfrm>
            <a:off x="4011930" y="1243965"/>
            <a:ext cx="1807560" cy="76068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9DA10F-9B9C-9C5F-C3D3-48AB1314813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204650" y="929685"/>
            <a:ext cx="1252440" cy="679680"/>
          </a:xfrm>
          <a:prstGeom prst="rect">
            <a:avLst/>
          </a:prstGeom>
          <a:ln>
            <a:noFill/>
          </a:ln>
        </p:spPr>
      </p:pic>
      <p:sp>
        <p:nvSpPr>
          <p:cNvPr id="18" name="CustomShape 11">
            <a:extLst>
              <a:ext uri="{FF2B5EF4-FFF2-40B4-BE49-F238E27FC236}">
                <a16:creationId xmlns:a16="http://schemas.microsoft.com/office/drawing/2014/main" id="{D11332CF-85D1-D577-A492-5AD944E2B987}"/>
              </a:ext>
            </a:extLst>
          </p:cNvPr>
          <p:cNvSpPr/>
          <p:nvPr/>
        </p:nvSpPr>
        <p:spPr>
          <a:xfrm>
            <a:off x="1132650" y="1491645"/>
            <a:ext cx="1964520" cy="30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323232"/>
                </a:solidFill>
                <a:latin typeface="Cambria"/>
                <a:ea typeface="DejaVu Sans"/>
              </a:rPr>
              <a:t>Sequencing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323232"/>
                </a:solidFill>
                <a:latin typeface="Cambria"/>
                <a:ea typeface="DejaVu Sans"/>
              </a:rPr>
              <a:t>facility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0" name="CustomShape 13">
            <a:extLst>
              <a:ext uri="{FF2B5EF4-FFF2-40B4-BE49-F238E27FC236}">
                <a16:creationId xmlns:a16="http://schemas.microsoft.com/office/drawing/2014/main" id="{ED9F3242-0C13-AD9F-860F-1D69BD66E7F8}"/>
              </a:ext>
            </a:extLst>
          </p:cNvPr>
          <p:cNvSpPr/>
          <p:nvPr/>
        </p:nvSpPr>
        <p:spPr>
          <a:xfrm>
            <a:off x="5773770" y="2815365"/>
            <a:ext cx="1371240" cy="6019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Mapped reads</a:t>
            </a:r>
          </a:p>
        </p:txBody>
      </p:sp>
      <p:sp>
        <p:nvSpPr>
          <p:cNvPr id="21" name="CustomShape 14">
            <a:extLst>
              <a:ext uri="{FF2B5EF4-FFF2-40B4-BE49-F238E27FC236}">
                <a16:creationId xmlns:a16="http://schemas.microsoft.com/office/drawing/2014/main" id="{6D77A17A-823B-3D57-D23D-4BA1800C91BE}"/>
              </a:ext>
            </a:extLst>
          </p:cNvPr>
          <p:cNvSpPr/>
          <p:nvPr/>
        </p:nvSpPr>
        <p:spPr>
          <a:xfrm>
            <a:off x="5819490" y="2004645"/>
            <a:ext cx="1279800" cy="35964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mapping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" name="CustomShape 15">
            <a:extLst>
              <a:ext uri="{FF2B5EF4-FFF2-40B4-BE49-F238E27FC236}">
                <a16:creationId xmlns:a16="http://schemas.microsoft.com/office/drawing/2014/main" id="{029FA7BA-FF25-842F-67BE-EF195257FE64}"/>
              </a:ext>
            </a:extLst>
          </p:cNvPr>
          <p:cNvSpPr/>
          <p:nvPr/>
        </p:nvSpPr>
        <p:spPr>
          <a:xfrm>
            <a:off x="5545170" y="3929205"/>
            <a:ext cx="182844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expression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quantification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" name="CustomShape 16">
            <a:extLst>
              <a:ext uri="{FF2B5EF4-FFF2-40B4-BE49-F238E27FC236}">
                <a16:creationId xmlns:a16="http://schemas.microsoft.com/office/drawing/2014/main" id="{795D276C-9915-8E9E-A776-35682B97BE89}"/>
              </a:ext>
            </a:extLst>
          </p:cNvPr>
          <p:cNvSpPr/>
          <p:nvPr/>
        </p:nvSpPr>
        <p:spPr>
          <a:xfrm>
            <a:off x="3774330" y="3929205"/>
            <a:ext cx="1371240" cy="6019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Expression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matrix</a:t>
            </a:r>
          </a:p>
        </p:txBody>
      </p:sp>
      <p:sp>
        <p:nvSpPr>
          <p:cNvPr id="24" name="CustomShape 17">
            <a:extLst>
              <a:ext uri="{FF2B5EF4-FFF2-40B4-BE49-F238E27FC236}">
                <a16:creationId xmlns:a16="http://schemas.microsoft.com/office/drawing/2014/main" id="{D144021D-3055-72F3-A4B2-5D0244B87E40}"/>
              </a:ext>
            </a:extLst>
          </p:cNvPr>
          <p:cNvSpPr/>
          <p:nvPr/>
        </p:nvSpPr>
        <p:spPr>
          <a:xfrm>
            <a:off x="1464210" y="5670885"/>
            <a:ext cx="1603800" cy="85788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Differential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Expression analysis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5" name="CustomShape 18">
            <a:extLst>
              <a:ext uri="{FF2B5EF4-FFF2-40B4-BE49-F238E27FC236}">
                <a16:creationId xmlns:a16="http://schemas.microsoft.com/office/drawing/2014/main" id="{AB91353F-9F89-3E97-6742-C2C733D89384}"/>
              </a:ext>
            </a:extLst>
          </p:cNvPr>
          <p:cNvSpPr/>
          <p:nvPr/>
        </p:nvSpPr>
        <p:spPr>
          <a:xfrm>
            <a:off x="3547530" y="5790405"/>
            <a:ext cx="1824840" cy="61884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Table of DE genes/transcript</a:t>
            </a:r>
          </a:p>
        </p:txBody>
      </p:sp>
      <p:sp>
        <p:nvSpPr>
          <p:cNvPr id="26" name="CustomShape 19">
            <a:extLst>
              <a:ext uri="{FF2B5EF4-FFF2-40B4-BE49-F238E27FC236}">
                <a16:creationId xmlns:a16="http://schemas.microsoft.com/office/drawing/2014/main" id="{993ADF29-ACB0-902D-FA65-B70DE2A6FDB6}"/>
              </a:ext>
            </a:extLst>
          </p:cNvPr>
          <p:cNvSpPr/>
          <p:nvPr/>
        </p:nvSpPr>
        <p:spPr>
          <a:xfrm>
            <a:off x="5899050" y="5439045"/>
            <a:ext cx="280836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Pathway enrichment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analysis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" name="CustomShape 20">
            <a:extLst>
              <a:ext uri="{FF2B5EF4-FFF2-40B4-BE49-F238E27FC236}">
                <a16:creationId xmlns:a16="http://schemas.microsoft.com/office/drawing/2014/main" id="{49AB2BAA-F0C1-BCCC-287F-C958CCCC7C20}"/>
              </a:ext>
            </a:extLst>
          </p:cNvPr>
          <p:cNvSpPr/>
          <p:nvPr/>
        </p:nvSpPr>
        <p:spPr>
          <a:xfrm>
            <a:off x="1353690" y="4791405"/>
            <a:ext cx="1824840" cy="61884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Normalized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counts</a:t>
            </a:r>
          </a:p>
        </p:txBody>
      </p:sp>
      <p:sp>
        <p:nvSpPr>
          <p:cNvPr id="28" name="CustomShape 21">
            <a:extLst>
              <a:ext uri="{FF2B5EF4-FFF2-40B4-BE49-F238E27FC236}">
                <a16:creationId xmlns:a16="http://schemas.microsoft.com/office/drawing/2014/main" id="{9311A648-6A5C-595B-EFA9-1D98A69B7577}"/>
              </a:ext>
            </a:extLst>
          </p:cNvPr>
          <p:cNvSpPr/>
          <p:nvPr/>
        </p:nvSpPr>
        <p:spPr>
          <a:xfrm>
            <a:off x="1205370" y="3929205"/>
            <a:ext cx="212148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normalization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across libraries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9" name="CustomShape 22">
            <a:extLst>
              <a:ext uri="{FF2B5EF4-FFF2-40B4-BE49-F238E27FC236}">
                <a16:creationId xmlns:a16="http://schemas.microsoft.com/office/drawing/2014/main" id="{DCA02250-4A08-5E02-DC41-79B571BBD3CB}"/>
              </a:ext>
            </a:extLst>
          </p:cNvPr>
          <p:cNvSpPr/>
          <p:nvPr/>
        </p:nvSpPr>
        <p:spPr>
          <a:xfrm>
            <a:off x="3920490" y="4917405"/>
            <a:ext cx="416520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0" name="CustomShape 23">
            <a:extLst>
              <a:ext uri="{FF2B5EF4-FFF2-40B4-BE49-F238E27FC236}">
                <a16:creationId xmlns:a16="http://schemas.microsoft.com/office/drawing/2014/main" id="{39D2768D-BFAC-18BE-5E31-40FCEDE732A6}"/>
              </a:ext>
            </a:extLst>
          </p:cNvPr>
          <p:cNvSpPr/>
          <p:nvPr/>
        </p:nvSpPr>
        <p:spPr>
          <a:xfrm>
            <a:off x="5899050" y="6127365"/>
            <a:ext cx="416520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E0D61AD8-CC5E-18A3-6D23-3F913AA69874}"/>
              </a:ext>
            </a:extLst>
          </p:cNvPr>
          <p:cNvSpPr/>
          <p:nvPr/>
        </p:nvSpPr>
        <p:spPr>
          <a:xfrm>
            <a:off x="6459570" y="2364645"/>
            <a:ext cx="0" cy="4507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49CCAC66-7C5E-1307-9C61-D6BC9C021C40}"/>
              </a:ext>
            </a:extLst>
          </p:cNvPr>
          <p:cNvSpPr/>
          <p:nvPr/>
        </p:nvSpPr>
        <p:spPr>
          <a:xfrm>
            <a:off x="5566410" y="5670885"/>
            <a:ext cx="33264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61D1482C-79E8-FE0A-052C-B93A5D0FE337}"/>
              </a:ext>
            </a:extLst>
          </p:cNvPr>
          <p:cNvSpPr/>
          <p:nvPr/>
        </p:nvSpPr>
        <p:spPr>
          <a:xfrm>
            <a:off x="5566410" y="6326805"/>
            <a:ext cx="33264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AFF0DB09-3700-2447-0FAD-D0574E245450}"/>
              </a:ext>
            </a:extLst>
          </p:cNvPr>
          <p:cNvSpPr/>
          <p:nvPr/>
        </p:nvSpPr>
        <p:spPr>
          <a:xfrm>
            <a:off x="5566410" y="5633085"/>
            <a:ext cx="0" cy="731520"/>
          </a:xfrm>
          <a:prstGeom prst="line">
            <a:avLst/>
          </a:prstGeom>
          <a:ln w="7632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BD49860E-3621-2B74-05C0-D59E46A64B0C}"/>
              </a:ext>
            </a:extLst>
          </p:cNvPr>
          <p:cNvSpPr/>
          <p:nvPr/>
        </p:nvSpPr>
        <p:spPr>
          <a:xfrm>
            <a:off x="4194810" y="1185840"/>
            <a:ext cx="16300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C56B3D50-AD3C-B805-B738-E5936030FACC}"/>
              </a:ext>
            </a:extLst>
          </p:cNvPr>
          <p:cNvSpPr/>
          <p:nvPr/>
        </p:nvSpPr>
        <p:spPr>
          <a:xfrm>
            <a:off x="6585570" y="1185840"/>
            <a:ext cx="131292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C24C6895-C541-38E4-C3ED-5FA030DCF50E}"/>
              </a:ext>
            </a:extLst>
          </p:cNvPr>
          <p:cNvSpPr/>
          <p:nvPr/>
        </p:nvSpPr>
        <p:spPr>
          <a:xfrm flipH="1">
            <a:off x="7099650" y="1417320"/>
            <a:ext cx="935640" cy="57780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" name="CustomShape 16">
            <a:extLst>
              <a:ext uri="{FF2B5EF4-FFF2-40B4-BE49-F238E27FC236}">
                <a16:creationId xmlns:a16="http://schemas.microsoft.com/office/drawing/2014/main" id="{C9C4BCCE-B02C-07B8-2963-E9481B005607}"/>
              </a:ext>
            </a:extLst>
          </p:cNvPr>
          <p:cNvSpPr/>
          <p:nvPr/>
        </p:nvSpPr>
        <p:spPr>
          <a:xfrm>
            <a:off x="7898490" y="865800"/>
            <a:ext cx="2011320" cy="6397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Trimmed/filtered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reads</a:t>
            </a:r>
          </a:p>
        </p:txBody>
      </p:sp>
      <p:sp>
        <p:nvSpPr>
          <p:cNvPr id="36" name="CustomShape 18">
            <a:extLst>
              <a:ext uri="{FF2B5EF4-FFF2-40B4-BE49-F238E27FC236}">
                <a16:creationId xmlns:a16="http://schemas.microsoft.com/office/drawing/2014/main" id="{ED886C70-B53E-8CB4-5B99-07272B670106}"/>
              </a:ext>
            </a:extLst>
          </p:cNvPr>
          <p:cNvSpPr/>
          <p:nvPr/>
        </p:nvSpPr>
        <p:spPr>
          <a:xfrm>
            <a:off x="5824890" y="884880"/>
            <a:ext cx="126900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trimming/filtering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9" name="CustomShape 12">
            <a:extLst>
              <a:ext uri="{FF2B5EF4-FFF2-40B4-BE49-F238E27FC236}">
                <a16:creationId xmlns:a16="http://schemas.microsoft.com/office/drawing/2014/main" id="{73A432FC-EBC3-0EDA-177C-E3380ECD1C1B}"/>
              </a:ext>
            </a:extLst>
          </p:cNvPr>
          <p:cNvSpPr/>
          <p:nvPr/>
        </p:nvSpPr>
        <p:spPr>
          <a:xfrm>
            <a:off x="2914650" y="1012485"/>
            <a:ext cx="1371240" cy="36540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Raw reads</a:t>
            </a:r>
          </a:p>
        </p:txBody>
      </p:sp>
    </p:spTree>
    <p:extLst>
      <p:ext uri="{BB962C8B-B14F-4D97-AF65-F5344CB8AC3E}">
        <p14:creationId xmlns:p14="http://schemas.microsoft.com/office/powerpoint/2010/main" val="3982162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RNAseq</a:t>
            </a:r>
            <a:r>
              <a:rPr lang="en-GB" dirty="0">
                <a:ea typeface="Verdana"/>
                <a:cs typeface="Gill Sans"/>
              </a:rPr>
              <a:t> data analysis - basic pipeline</a:t>
            </a:r>
            <a:endParaRPr lang="en-GB" dirty="0"/>
          </a:p>
        </p:txBody>
      </p:sp>
      <p:sp>
        <p:nvSpPr>
          <p:cNvPr id="3" name="Line 1">
            <a:extLst>
              <a:ext uri="{FF2B5EF4-FFF2-40B4-BE49-F238E27FC236}">
                <a16:creationId xmlns:a16="http://schemas.microsoft.com/office/drawing/2014/main" id="{70BECAC0-EEDE-C928-9C69-62580FDA84E8}"/>
              </a:ext>
            </a:extLst>
          </p:cNvPr>
          <p:cNvSpPr/>
          <p:nvPr/>
        </p:nvSpPr>
        <p:spPr>
          <a:xfrm>
            <a:off x="3097530" y="5101005"/>
            <a:ext cx="82296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803123EF-EB38-BB98-2E7F-6E70D351B52E}"/>
              </a:ext>
            </a:extLst>
          </p:cNvPr>
          <p:cNvSpPr/>
          <p:nvPr/>
        </p:nvSpPr>
        <p:spPr>
          <a:xfrm>
            <a:off x="5336730" y="5998845"/>
            <a:ext cx="193680" cy="0"/>
          </a:xfrm>
          <a:prstGeom prst="line">
            <a:avLst/>
          </a:prstGeom>
          <a:ln w="7632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5429B9B6-F022-9482-0B46-C53F924E95C9}"/>
              </a:ext>
            </a:extLst>
          </p:cNvPr>
          <p:cNvSpPr/>
          <p:nvPr/>
        </p:nvSpPr>
        <p:spPr>
          <a:xfrm>
            <a:off x="2724570" y="6090285"/>
            <a:ext cx="82296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9157D905-11B7-F5C7-18BC-51AD871BA7BB}"/>
              </a:ext>
            </a:extLst>
          </p:cNvPr>
          <p:cNvSpPr/>
          <p:nvPr/>
        </p:nvSpPr>
        <p:spPr>
          <a:xfrm>
            <a:off x="2266290" y="510136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31F94216-0EB3-A34B-43B7-CB83E7499711}"/>
              </a:ext>
            </a:extLst>
          </p:cNvPr>
          <p:cNvSpPr/>
          <p:nvPr/>
        </p:nvSpPr>
        <p:spPr>
          <a:xfrm>
            <a:off x="2274570" y="422188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1A16E2ED-4A6D-77AC-D521-AF87F7F69E3E}"/>
              </a:ext>
            </a:extLst>
          </p:cNvPr>
          <p:cNvSpPr/>
          <p:nvPr/>
        </p:nvSpPr>
        <p:spPr>
          <a:xfrm flipH="1">
            <a:off x="5145930" y="4230165"/>
            <a:ext cx="5608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ACBAAC57-4093-188F-47D2-126C76DC25D4}"/>
              </a:ext>
            </a:extLst>
          </p:cNvPr>
          <p:cNvSpPr/>
          <p:nvPr/>
        </p:nvSpPr>
        <p:spPr>
          <a:xfrm flipH="1">
            <a:off x="3329010" y="4230165"/>
            <a:ext cx="5608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E67E8712-9B1E-52F3-38F5-0D7AAE1703D7}"/>
              </a:ext>
            </a:extLst>
          </p:cNvPr>
          <p:cNvSpPr/>
          <p:nvPr/>
        </p:nvSpPr>
        <p:spPr>
          <a:xfrm>
            <a:off x="6459570" y="335968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0B578083-4813-0089-4F37-0C59ACAFF67D}"/>
              </a:ext>
            </a:extLst>
          </p:cNvPr>
          <p:cNvSpPr/>
          <p:nvPr/>
        </p:nvSpPr>
        <p:spPr>
          <a:xfrm>
            <a:off x="4011930" y="1243965"/>
            <a:ext cx="1807560" cy="76068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9DA10F-9B9C-9C5F-C3D3-48AB1314813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204650" y="929685"/>
            <a:ext cx="1252440" cy="679680"/>
          </a:xfrm>
          <a:prstGeom prst="rect">
            <a:avLst/>
          </a:prstGeom>
          <a:ln>
            <a:noFill/>
          </a:ln>
        </p:spPr>
      </p:pic>
      <p:sp>
        <p:nvSpPr>
          <p:cNvPr id="18" name="CustomShape 11">
            <a:extLst>
              <a:ext uri="{FF2B5EF4-FFF2-40B4-BE49-F238E27FC236}">
                <a16:creationId xmlns:a16="http://schemas.microsoft.com/office/drawing/2014/main" id="{D11332CF-85D1-D577-A492-5AD944E2B987}"/>
              </a:ext>
            </a:extLst>
          </p:cNvPr>
          <p:cNvSpPr/>
          <p:nvPr/>
        </p:nvSpPr>
        <p:spPr>
          <a:xfrm>
            <a:off x="1132650" y="1491645"/>
            <a:ext cx="1964520" cy="30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323232"/>
                </a:solidFill>
                <a:latin typeface="Cambria"/>
                <a:ea typeface="DejaVu Sans"/>
              </a:rPr>
              <a:t>Sequencing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323232"/>
                </a:solidFill>
                <a:latin typeface="Cambria"/>
                <a:ea typeface="DejaVu Sans"/>
              </a:rPr>
              <a:t>facility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1" name="CustomShape 14">
            <a:extLst>
              <a:ext uri="{FF2B5EF4-FFF2-40B4-BE49-F238E27FC236}">
                <a16:creationId xmlns:a16="http://schemas.microsoft.com/office/drawing/2014/main" id="{6D77A17A-823B-3D57-D23D-4BA1800C91BE}"/>
              </a:ext>
            </a:extLst>
          </p:cNvPr>
          <p:cNvSpPr/>
          <p:nvPr/>
        </p:nvSpPr>
        <p:spPr>
          <a:xfrm>
            <a:off x="5819490" y="2004645"/>
            <a:ext cx="1279800" cy="35964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mapping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" name="CustomShape 15">
            <a:extLst>
              <a:ext uri="{FF2B5EF4-FFF2-40B4-BE49-F238E27FC236}">
                <a16:creationId xmlns:a16="http://schemas.microsoft.com/office/drawing/2014/main" id="{029FA7BA-FF25-842F-67BE-EF195257FE64}"/>
              </a:ext>
            </a:extLst>
          </p:cNvPr>
          <p:cNvSpPr/>
          <p:nvPr/>
        </p:nvSpPr>
        <p:spPr>
          <a:xfrm>
            <a:off x="5545170" y="3929205"/>
            <a:ext cx="182844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expression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quantification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" name="CustomShape 16">
            <a:extLst>
              <a:ext uri="{FF2B5EF4-FFF2-40B4-BE49-F238E27FC236}">
                <a16:creationId xmlns:a16="http://schemas.microsoft.com/office/drawing/2014/main" id="{795D276C-9915-8E9E-A776-35682B97BE89}"/>
              </a:ext>
            </a:extLst>
          </p:cNvPr>
          <p:cNvSpPr/>
          <p:nvPr/>
        </p:nvSpPr>
        <p:spPr>
          <a:xfrm>
            <a:off x="3774330" y="3929205"/>
            <a:ext cx="1371240" cy="6019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Expression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matrix</a:t>
            </a:r>
          </a:p>
        </p:txBody>
      </p:sp>
      <p:sp>
        <p:nvSpPr>
          <p:cNvPr id="24" name="CustomShape 17">
            <a:extLst>
              <a:ext uri="{FF2B5EF4-FFF2-40B4-BE49-F238E27FC236}">
                <a16:creationId xmlns:a16="http://schemas.microsoft.com/office/drawing/2014/main" id="{D144021D-3055-72F3-A4B2-5D0244B87E40}"/>
              </a:ext>
            </a:extLst>
          </p:cNvPr>
          <p:cNvSpPr/>
          <p:nvPr/>
        </p:nvSpPr>
        <p:spPr>
          <a:xfrm>
            <a:off x="1464210" y="5670885"/>
            <a:ext cx="1603800" cy="85788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Differential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Expression analysis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5" name="CustomShape 18">
            <a:extLst>
              <a:ext uri="{FF2B5EF4-FFF2-40B4-BE49-F238E27FC236}">
                <a16:creationId xmlns:a16="http://schemas.microsoft.com/office/drawing/2014/main" id="{AB91353F-9F89-3E97-6742-C2C733D89384}"/>
              </a:ext>
            </a:extLst>
          </p:cNvPr>
          <p:cNvSpPr/>
          <p:nvPr/>
        </p:nvSpPr>
        <p:spPr>
          <a:xfrm>
            <a:off x="3547530" y="5790405"/>
            <a:ext cx="1824840" cy="61884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Table of DE genes/transcript</a:t>
            </a:r>
          </a:p>
        </p:txBody>
      </p:sp>
      <p:sp>
        <p:nvSpPr>
          <p:cNvPr id="26" name="CustomShape 19">
            <a:extLst>
              <a:ext uri="{FF2B5EF4-FFF2-40B4-BE49-F238E27FC236}">
                <a16:creationId xmlns:a16="http://schemas.microsoft.com/office/drawing/2014/main" id="{993ADF29-ACB0-902D-FA65-B70DE2A6FDB6}"/>
              </a:ext>
            </a:extLst>
          </p:cNvPr>
          <p:cNvSpPr/>
          <p:nvPr/>
        </p:nvSpPr>
        <p:spPr>
          <a:xfrm>
            <a:off x="5899050" y="5439045"/>
            <a:ext cx="280836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Pathway enrichment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analysis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" name="CustomShape 20">
            <a:extLst>
              <a:ext uri="{FF2B5EF4-FFF2-40B4-BE49-F238E27FC236}">
                <a16:creationId xmlns:a16="http://schemas.microsoft.com/office/drawing/2014/main" id="{49AB2BAA-F0C1-BCCC-287F-C958CCCC7C20}"/>
              </a:ext>
            </a:extLst>
          </p:cNvPr>
          <p:cNvSpPr/>
          <p:nvPr/>
        </p:nvSpPr>
        <p:spPr>
          <a:xfrm>
            <a:off x="1353690" y="4791405"/>
            <a:ext cx="1824840" cy="61884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Normalized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counts</a:t>
            </a:r>
          </a:p>
        </p:txBody>
      </p:sp>
      <p:sp>
        <p:nvSpPr>
          <p:cNvPr id="28" name="CustomShape 21">
            <a:extLst>
              <a:ext uri="{FF2B5EF4-FFF2-40B4-BE49-F238E27FC236}">
                <a16:creationId xmlns:a16="http://schemas.microsoft.com/office/drawing/2014/main" id="{9311A648-6A5C-595B-EFA9-1D98A69B7577}"/>
              </a:ext>
            </a:extLst>
          </p:cNvPr>
          <p:cNvSpPr/>
          <p:nvPr/>
        </p:nvSpPr>
        <p:spPr>
          <a:xfrm>
            <a:off x="1205370" y="3929205"/>
            <a:ext cx="212148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normalization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across libraries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9" name="CustomShape 22">
            <a:extLst>
              <a:ext uri="{FF2B5EF4-FFF2-40B4-BE49-F238E27FC236}">
                <a16:creationId xmlns:a16="http://schemas.microsoft.com/office/drawing/2014/main" id="{DCA02250-4A08-5E02-DC41-79B571BBD3CB}"/>
              </a:ext>
            </a:extLst>
          </p:cNvPr>
          <p:cNvSpPr/>
          <p:nvPr/>
        </p:nvSpPr>
        <p:spPr>
          <a:xfrm>
            <a:off x="3920490" y="4917405"/>
            <a:ext cx="416520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0" name="CustomShape 23">
            <a:extLst>
              <a:ext uri="{FF2B5EF4-FFF2-40B4-BE49-F238E27FC236}">
                <a16:creationId xmlns:a16="http://schemas.microsoft.com/office/drawing/2014/main" id="{39D2768D-BFAC-18BE-5E31-40FCEDE732A6}"/>
              </a:ext>
            </a:extLst>
          </p:cNvPr>
          <p:cNvSpPr/>
          <p:nvPr/>
        </p:nvSpPr>
        <p:spPr>
          <a:xfrm>
            <a:off x="5899050" y="6127365"/>
            <a:ext cx="416520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58CF8E-C979-73A8-3C1D-597C43097AF5}"/>
              </a:ext>
            </a:extLst>
          </p:cNvPr>
          <p:cNvSpPr/>
          <p:nvPr/>
        </p:nvSpPr>
        <p:spPr>
          <a:xfrm>
            <a:off x="833005" y="3335483"/>
            <a:ext cx="9348352" cy="3261011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E0D61AD8-CC5E-18A3-6D23-3F913AA69874}"/>
              </a:ext>
            </a:extLst>
          </p:cNvPr>
          <p:cNvSpPr/>
          <p:nvPr/>
        </p:nvSpPr>
        <p:spPr>
          <a:xfrm>
            <a:off x="6459570" y="2364645"/>
            <a:ext cx="0" cy="4507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49CCAC66-7C5E-1307-9C61-D6BC9C021C40}"/>
              </a:ext>
            </a:extLst>
          </p:cNvPr>
          <p:cNvSpPr/>
          <p:nvPr/>
        </p:nvSpPr>
        <p:spPr>
          <a:xfrm>
            <a:off x="5566410" y="5670885"/>
            <a:ext cx="33264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61D1482C-79E8-FE0A-052C-B93A5D0FE337}"/>
              </a:ext>
            </a:extLst>
          </p:cNvPr>
          <p:cNvSpPr/>
          <p:nvPr/>
        </p:nvSpPr>
        <p:spPr>
          <a:xfrm>
            <a:off x="5566410" y="6326805"/>
            <a:ext cx="33264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AFF0DB09-3700-2447-0FAD-D0574E245450}"/>
              </a:ext>
            </a:extLst>
          </p:cNvPr>
          <p:cNvSpPr/>
          <p:nvPr/>
        </p:nvSpPr>
        <p:spPr>
          <a:xfrm>
            <a:off x="5566410" y="5633085"/>
            <a:ext cx="0" cy="731520"/>
          </a:xfrm>
          <a:prstGeom prst="line">
            <a:avLst/>
          </a:prstGeom>
          <a:ln w="7632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BD49860E-3621-2B74-05C0-D59E46A64B0C}"/>
              </a:ext>
            </a:extLst>
          </p:cNvPr>
          <p:cNvSpPr/>
          <p:nvPr/>
        </p:nvSpPr>
        <p:spPr>
          <a:xfrm>
            <a:off x="4194810" y="1185840"/>
            <a:ext cx="16300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C56B3D50-AD3C-B805-B738-E5936030FACC}"/>
              </a:ext>
            </a:extLst>
          </p:cNvPr>
          <p:cNvSpPr/>
          <p:nvPr/>
        </p:nvSpPr>
        <p:spPr>
          <a:xfrm>
            <a:off x="6585570" y="1185840"/>
            <a:ext cx="131292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C24C6895-C541-38E4-C3ED-5FA030DCF50E}"/>
              </a:ext>
            </a:extLst>
          </p:cNvPr>
          <p:cNvSpPr/>
          <p:nvPr/>
        </p:nvSpPr>
        <p:spPr>
          <a:xfrm flipH="1">
            <a:off x="7099650" y="1417320"/>
            <a:ext cx="935640" cy="57780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" name="CustomShape 16">
            <a:extLst>
              <a:ext uri="{FF2B5EF4-FFF2-40B4-BE49-F238E27FC236}">
                <a16:creationId xmlns:a16="http://schemas.microsoft.com/office/drawing/2014/main" id="{C9C4BCCE-B02C-07B8-2963-E9481B005607}"/>
              </a:ext>
            </a:extLst>
          </p:cNvPr>
          <p:cNvSpPr/>
          <p:nvPr/>
        </p:nvSpPr>
        <p:spPr>
          <a:xfrm>
            <a:off x="7898490" y="865800"/>
            <a:ext cx="2011320" cy="6397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Trimmed/filtered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reads</a:t>
            </a:r>
          </a:p>
        </p:txBody>
      </p:sp>
      <p:sp>
        <p:nvSpPr>
          <p:cNvPr id="36" name="CustomShape 18">
            <a:extLst>
              <a:ext uri="{FF2B5EF4-FFF2-40B4-BE49-F238E27FC236}">
                <a16:creationId xmlns:a16="http://schemas.microsoft.com/office/drawing/2014/main" id="{ED886C70-B53E-8CB4-5B99-07272B670106}"/>
              </a:ext>
            </a:extLst>
          </p:cNvPr>
          <p:cNvSpPr/>
          <p:nvPr/>
        </p:nvSpPr>
        <p:spPr>
          <a:xfrm>
            <a:off x="5824890" y="884880"/>
            <a:ext cx="126900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trimming/filtering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9" name="CustomShape 12">
            <a:extLst>
              <a:ext uri="{FF2B5EF4-FFF2-40B4-BE49-F238E27FC236}">
                <a16:creationId xmlns:a16="http://schemas.microsoft.com/office/drawing/2014/main" id="{73A432FC-EBC3-0EDA-177C-E3380ECD1C1B}"/>
              </a:ext>
            </a:extLst>
          </p:cNvPr>
          <p:cNvSpPr/>
          <p:nvPr/>
        </p:nvSpPr>
        <p:spPr>
          <a:xfrm>
            <a:off x="2914650" y="1012485"/>
            <a:ext cx="1371240" cy="36540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Raw reads</a:t>
            </a:r>
          </a:p>
        </p:txBody>
      </p:sp>
      <p:sp>
        <p:nvSpPr>
          <p:cNvPr id="8" name="CustomShape 32">
            <a:extLst>
              <a:ext uri="{FF2B5EF4-FFF2-40B4-BE49-F238E27FC236}">
                <a16:creationId xmlns:a16="http://schemas.microsoft.com/office/drawing/2014/main" id="{C27CD734-D1AB-CB9C-72B1-2240F16AC4E4}"/>
              </a:ext>
            </a:extLst>
          </p:cNvPr>
          <p:cNvSpPr/>
          <p:nvPr/>
        </p:nvSpPr>
        <p:spPr>
          <a:xfrm>
            <a:off x="8038421" y="3983757"/>
            <a:ext cx="1837099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variant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calling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" name="CustomShape 33">
            <a:extLst>
              <a:ext uri="{FF2B5EF4-FFF2-40B4-BE49-F238E27FC236}">
                <a16:creationId xmlns:a16="http://schemas.microsoft.com/office/drawing/2014/main" id="{697DBB5E-5765-3481-E90A-8FA7BFFBE786}"/>
              </a:ext>
            </a:extLst>
          </p:cNvPr>
          <p:cNvSpPr/>
          <p:nvPr/>
        </p:nvSpPr>
        <p:spPr>
          <a:xfrm>
            <a:off x="8038421" y="4697637"/>
            <a:ext cx="1837099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isoform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description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7" name="CustomShape 34">
            <a:extLst>
              <a:ext uri="{FF2B5EF4-FFF2-40B4-BE49-F238E27FC236}">
                <a16:creationId xmlns:a16="http://schemas.microsoft.com/office/drawing/2014/main" id="{D4D99338-3678-BAE6-8B4A-96B12F73BEBC}"/>
              </a:ext>
            </a:extLst>
          </p:cNvPr>
          <p:cNvSpPr/>
          <p:nvPr/>
        </p:nvSpPr>
        <p:spPr>
          <a:xfrm>
            <a:off x="9450341" y="5411517"/>
            <a:ext cx="425179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BA43FC32-4171-6380-00D9-7E95DB04714C}"/>
              </a:ext>
            </a:extLst>
          </p:cNvPr>
          <p:cNvSpPr/>
          <p:nvPr/>
        </p:nvSpPr>
        <p:spPr>
          <a:xfrm>
            <a:off x="7077791" y="3310093"/>
            <a:ext cx="969139" cy="67356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" name="CustomShape 13">
            <a:extLst>
              <a:ext uri="{FF2B5EF4-FFF2-40B4-BE49-F238E27FC236}">
                <a16:creationId xmlns:a16="http://schemas.microsoft.com/office/drawing/2014/main" id="{ED9F3242-0C13-AD9F-860F-1D69BD66E7F8}"/>
              </a:ext>
            </a:extLst>
          </p:cNvPr>
          <p:cNvSpPr/>
          <p:nvPr/>
        </p:nvSpPr>
        <p:spPr>
          <a:xfrm>
            <a:off x="5773770" y="2815365"/>
            <a:ext cx="1371240" cy="6019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Mapped reads</a:t>
            </a:r>
          </a:p>
        </p:txBody>
      </p:sp>
    </p:spTree>
    <p:extLst>
      <p:ext uri="{BB962C8B-B14F-4D97-AF65-F5344CB8AC3E}">
        <p14:creationId xmlns:p14="http://schemas.microsoft.com/office/powerpoint/2010/main" val="24242648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RNAseq</a:t>
            </a:r>
            <a:r>
              <a:rPr lang="en-GB" dirty="0">
                <a:ea typeface="Verdana"/>
                <a:cs typeface="Gill Sans"/>
              </a:rPr>
              <a:t> data analysis - basic pipeline</a:t>
            </a:r>
            <a:endParaRPr lang="en-GB" dirty="0"/>
          </a:p>
        </p:txBody>
      </p:sp>
      <p:sp>
        <p:nvSpPr>
          <p:cNvPr id="3" name="Line 1">
            <a:extLst>
              <a:ext uri="{FF2B5EF4-FFF2-40B4-BE49-F238E27FC236}">
                <a16:creationId xmlns:a16="http://schemas.microsoft.com/office/drawing/2014/main" id="{70BECAC0-EEDE-C928-9C69-62580FDA84E8}"/>
              </a:ext>
            </a:extLst>
          </p:cNvPr>
          <p:cNvSpPr/>
          <p:nvPr/>
        </p:nvSpPr>
        <p:spPr>
          <a:xfrm>
            <a:off x="3097530" y="5101005"/>
            <a:ext cx="82296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803123EF-EB38-BB98-2E7F-6E70D351B52E}"/>
              </a:ext>
            </a:extLst>
          </p:cNvPr>
          <p:cNvSpPr/>
          <p:nvPr/>
        </p:nvSpPr>
        <p:spPr>
          <a:xfrm>
            <a:off x="5336730" y="5998845"/>
            <a:ext cx="193680" cy="0"/>
          </a:xfrm>
          <a:prstGeom prst="line">
            <a:avLst/>
          </a:prstGeom>
          <a:ln w="7632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5429B9B6-F022-9482-0B46-C53F924E95C9}"/>
              </a:ext>
            </a:extLst>
          </p:cNvPr>
          <p:cNvSpPr/>
          <p:nvPr/>
        </p:nvSpPr>
        <p:spPr>
          <a:xfrm>
            <a:off x="2724570" y="6090285"/>
            <a:ext cx="82296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9157D905-11B7-F5C7-18BC-51AD871BA7BB}"/>
              </a:ext>
            </a:extLst>
          </p:cNvPr>
          <p:cNvSpPr/>
          <p:nvPr/>
        </p:nvSpPr>
        <p:spPr>
          <a:xfrm>
            <a:off x="2266290" y="510136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31F94216-0EB3-A34B-43B7-CB83E7499711}"/>
              </a:ext>
            </a:extLst>
          </p:cNvPr>
          <p:cNvSpPr/>
          <p:nvPr/>
        </p:nvSpPr>
        <p:spPr>
          <a:xfrm>
            <a:off x="2274570" y="422188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1A16E2ED-4A6D-77AC-D521-AF87F7F69E3E}"/>
              </a:ext>
            </a:extLst>
          </p:cNvPr>
          <p:cNvSpPr/>
          <p:nvPr/>
        </p:nvSpPr>
        <p:spPr>
          <a:xfrm flipH="1">
            <a:off x="5145930" y="4230165"/>
            <a:ext cx="5608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ACBAAC57-4093-188F-47D2-126C76DC25D4}"/>
              </a:ext>
            </a:extLst>
          </p:cNvPr>
          <p:cNvSpPr/>
          <p:nvPr/>
        </p:nvSpPr>
        <p:spPr>
          <a:xfrm flipH="1">
            <a:off x="3329010" y="4230165"/>
            <a:ext cx="5608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9DA10F-9B9C-9C5F-C3D3-48AB1314813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204650" y="929685"/>
            <a:ext cx="1252440" cy="679680"/>
          </a:xfrm>
          <a:prstGeom prst="rect">
            <a:avLst/>
          </a:prstGeom>
          <a:ln>
            <a:noFill/>
          </a:ln>
        </p:spPr>
      </p:pic>
      <p:sp>
        <p:nvSpPr>
          <p:cNvPr id="18" name="CustomShape 11">
            <a:extLst>
              <a:ext uri="{FF2B5EF4-FFF2-40B4-BE49-F238E27FC236}">
                <a16:creationId xmlns:a16="http://schemas.microsoft.com/office/drawing/2014/main" id="{D11332CF-85D1-D577-A492-5AD944E2B987}"/>
              </a:ext>
            </a:extLst>
          </p:cNvPr>
          <p:cNvSpPr/>
          <p:nvPr/>
        </p:nvSpPr>
        <p:spPr>
          <a:xfrm>
            <a:off x="1132650" y="1491645"/>
            <a:ext cx="1964520" cy="30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323232"/>
                </a:solidFill>
                <a:latin typeface="Cambria"/>
                <a:ea typeface="DejaVu Sans"/>
              </a:rPr>
              <a:t>Sequencing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323232"/>
                </a:solidFill>
                <a:latin typeface="Cambria"/>
                <a:ea typeface="DejaVu Sans"/>
              </a:rPr>
              <a:t>facility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2" name="CustomShape 15">
            <a:extLst>
              <a:ext uri="{FF2B5EF4-FFF2-40B4-BE49-F238E27FC236}">
                <a16:creationId xmlns:a16="http://schemas.microsoft.com/office/drawing/2014/main" id="{029FA7BA-FF25-842F-67BE-EF195257FE64}"/>
              </a:ext>
            </a:extLst>
          </p:cNvPr>
          <p:cNvSpPr/>
          <p:nvPr/>
        </p:nvSpPr>
        <p:spPr>
          <a:xfrm>
            <a:off x="5545170" y="3929205"/>
            <a:ext cx="182844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expression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quantification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" name="CustomShape 16">
            <a:extLst>
              <a:ext uri="{FF2B5EF4-FFF2-40B4-BE49-F238E27FC236}">
                <a16:creationId xmlns:a16="http://schemas.microsoft.com/office/drawing/2014/main" id="{795D276C-9915-8E9E-A776-35682B97BE89}"/>
              </a:ext>
            </a:extLst>
          </p:cNvPr>
          <p:cNvSpPr/>
          <p:nvPr/>
        </p:nvSpPr>
        <p:spPr>
          <a:xfrm>
            <a:off x="3774330" y="3929205"/>
            <a:ext cx="1371240" cy="6019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Expression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matrix</a:t>
            </a:r>
          </a:p>
        </p:txBody>
      </p:sp>
      <p:sp>
        <p:nvSpPr>
          <p:cNvPr id="24" name="CustomShape 17">
            <a:extLst>
              <a:ext uri="{FF2B5EF4-FFF2-40B4-BE49-F238E27FC236}">
                <a16:creationId xmlns:a16="http://schemas.microsoft.com/office/drawing/2014/main" id="{D144021D-3055-72F3-A4B2-5D0244B87E40}"/>
              </a:ext>
            </a:extLst>
          </p:cNvPr>
          <p:cNvSpPr/>
          <p:nvPr/>
        </p:nvSpPr>
        <p:spPr>
          <a:xfrm>
            <a:off x="1464210" y="5670885"/>
            <a:ext cx="1603800" cy="85788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Differential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Expression analysis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5" name="CustomShape 18">
            <a:extLst>
              <a:ext uri="{FF2B5EF4-FFF2-40B4-BE49-F238E27FC236}">
                <a16:creationId xmlns:a16="http://schemas.microsoft.com/office/drawing/2014/main" id="{AB91353F-9F89-3E97-6742-C2C733D89384}"/>
              </a:ext>
            </a:extLst>
          </p:cNvPr>
          <p:cNvSpPr/>
          <p:nvPr/>
        </p:nvSpPr>
        <p:spPr>
          <a:xfrm>
            <a:off x="3547530" y="5790405"/>
            <a:ext cx="1824840" cy="61884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Table of DE genes/transcript</a:t>
            </a:r>
          </a:p>
        </p:txBody>
      </p:sp>
      <p:sp>
        <p:nvSpPr>
          <p:cNvPr id="26" name="CustomShape 19">
            <a:extLst>
              <a:ext uri="{FF2B5EF4-FFF2-40B4-BE49-F238E27FC236}">
                <a16:creationId xmlns:a16="http://schemas.microsoft.com/office/drawing/2014/main" id="{993ADF29-ACB0-902D-FA65-B70DE2A6FDB6}"/>
              </a:ext>
            </a:extLst>
          </p:cNvPr>
          <p:cNvSpPr/>
          <p:nvPr/>
        </p:nvSpPr>
        <p:spPr>
          <a:xfrm>
            <a:off x="5899050" y="5439045"/>
            <a:ext cx="280836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Pathway enrichment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analysis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" name="CustomShape 20">
            <a:extLst>
              <a:ext uri="{FF2B5EF4-FFF2-40B4-BE49-F238E27FC236}">
                <a16:creationId xmlns:a16="http://schemas.microsoft.com/office/drawing/2014/main" id="{49AB2BAA-F0C1-BCCC-287F-C958CCCC7C20}"/>
              </a:ext>
            </a:extLst>
          </p:cNvPr>
          <p:cNvSpPr/>
          <p:nvPr/>
        </p:nvSpPr>
        <p:spPr>
          <a:xfrm>
            <a:off x="1353690" y="4791405"/>
            <a:ext cx="1824840" cy="61884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Normalized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counts</a:t>
            </a:r>
          </a:p>
        </p:txBody>
      </p:sp>
      <p:sp>
        <p:nvSpPr>
          <p:cNvPr id="28" name="CustomShape 21">
            <a:extLst>
              <a:ext uri="{FF2B5EF4-FFF2-40B4-BE49-F238E27FC236}">
                <a16:creationId xmlns:a16="http://schemas.microsoft.com/office/drawing/2014/main" id="{9311A648-6A5C-595B-EFA9-1D98A69B7577}"/>
              </a:ext>
            </a:extLst>
          </p:cNvPr>
          <p:cNvSpPr/>
          <p:nvPr/>
        </p:nvSpPr>
        <p:spPr>
          <a:xfrm>
            <a:off x="1205370" y="3929205"/>
            <a:ext cx="212148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normalization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across libraries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9" name="CustomShape 22">
            <a:extLst>
              <a:ext uri="{FF2B5EF4-FFF2-40B4-BE49-F238E27FC236}">
                <a16:creationId xmlns:a16="http://schemas.microsoft.com/office/drawing/2014/main" id="{DCA02250-4A08-5E02-DC41-79B571BBD3CB}"/>
              </a:ext>
            </a:extLst>
          </p:cNvPr>
          <p:cNvSpPr/>
          <p:nvPr/>
        </p:nvSpPr>
        <p:spPr>
          <a:xfrm>
            <a:off x="3920490" y="4917405"/>
            <a:ext cx="416520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0" name="CustomShape 23">
            <a:extLst>
              <a:ext uri="{FF2B5EF4-FFF2-40B4-BE49-F238E27FC236}">
                <a16:creationId xmlns:a16="http://schemas.microsoft.com/office/drawing/2014/main" id="{39D2768D-BFAC-18BE-5E31-40FCEDE732A6}"/>
              </a:ext>
            </a:extLst>
          </p:cNvPr>
          <p:cNvSpPr/>
          <p:nvPr/>
        </p:nvSpPr>
        <p:spPr>
          <a:xfrm>
            <a:off x="5899050" y="6127365"/>
            <a:ext cx="416520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49CCAC66-7C5E-1307-9C61-D6BC9C021C40}"/>
              </a:ext>
            </a:extLst>
          </p:cNvPr>
          <p:cNvSpPr/>
          <p:nvPr/>
        </p:nvSpPr>
        <p:spPr>
          <a:xfrm>
            <a:off x="5566410" y="5670885"/>
            <a:ext cx="33264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61D1482C-79E8-FE0A-052C-B93A5D0FE337}"/>
              </a:ext>
            </a:extLst>
          </p:cNvPr>
          <p:cNvSpPr/>
          <p:nvPr/>
        </p:nvSpPr>
        <p:spPr>
          <a:xfrm>
            <a:off x="5566410" y="6326805"/>
            <a:ext cx="33264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AFF0DB09-3700-2447-0FAD-D0574E245450}"/>
              </a:ext>
            </a:extLst>
          </p:cNvPr>
          <p:cNvSpPr/>
          <p:nvPr/>
        </p:nvSpPr>
        <p:spPr>
          <a:xfrm>
            <a:off x="5566410" y="5633085"/>
            <a:ext cx="0" cy="731520"/>
          </a:xfrm>
          <a:prstGeom prst="line">
            <a:avLst/>
          </a:prstGeom>
          <a:ln w="7632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BD49860E-3621-2B74-05C0-D59E46A64B0C}"/>
              </a:ext>
            </a:extLst>
          </p:cNvPr>
          <p:cNvSpPr/>
          <p:nvPr/>
        </p:nvSpPr>
        <p:spPr>
          <a:xfrm>
            <a:off x="4194810" y="1185840"/>
            <a:ext cx="16300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C56B3D50-AD3C-B805-B738-E5936030FACC}"/>
              </a:ext>
            </a:extLst>
          </p:cNvPr>
          <p:cNvSpPr/>
          <p:nvPr/>
        </p:nvSpPr>
        <p:spPr>
          <a:xfrm>
            <a:off x="6585570" y="1185840"/>
            <a:ext cx="131292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" name="CustomShape 18">
            <a:extLst>
              <a:ext uri="{FF2B5EF4-FFF2-40B4-BE49-F238E27FC236}">
                <a16:creationId xmlns:a16="http://schemas.microsoft.com/office/drawing/2014/main" id="{ED886C70-B53E-8CB4-5B99-07272B670106}"/>
              </a:ext>
            </a:extLst>
          </p:cNvPr>
          <p:cNvSpPr/>
          <p:nvPr/>
        </p:nvSpPr>
        <p:spPr>
          <a:xfrm>
            <a:off x="5824890" y="884880"/>
            <a:ext cx="126900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trimming/filtering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9" name="CustomShape 12">
            <a:extLst>
              <a:ext uri="{FF2B5EF4-FFF2-40B4-BE49-F238E27FC236}">
                <a16:creationId xmlns:a16="http://schemas.microsoft.com/office/drawing/2014/main" id="{73A432FC-EBC3-0EDA-177C-E3380ECD1C1B}"/>
              </a:ext>
            </a:extLst>
          </p:cNvPr>
          <p:cNvSpPr/>
          <p:nvPr/>
        </p:nvSpPr>
        <p:spPr>
          <a:xfrm>
            <a:off x="2914650" y="1012485"/>
            <a:ext cx="1371240" cy="36540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Raw reads</a:t>
            </a:r>
          </a:p>
        </p:txBody>
      </p:sp>
      <p:sp>
        <p:nvSpPr>
          <p:cNvPr id="8" name="CustomShape 32">
            <a:extLst>
              <a:ext uri="{FF2B5EF4-FFF2-40B4-BE49-F238E27FC236}">
                <a16:creationId xmlns:a16="http://schemas.microsoft.com/office/drawing/2014/main" id="{C27CD734-D1AB-CB9C-72B1-2240F16AC4E4}"/>
              </a:ext>
            </a:extLst>
          </p:cNvPr>
          <p:cNvSpPr/>
          <p:nvPr/>
        </p:nvSpPr>
        <p:spPr>
          <a:xfrm>
            <a:off x="8038421" y="3983757"/>
            <a:ext cx="1837099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variant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calling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" name="CustomShape 33">
            <a:extLst>
              <a:ext uri="{FF2B5EF4-FFF2-40B4-BE49-F238E27FC236}">
                <a16:creationId xmlns:a16="http://schemas.microsoft.com/office/drawing/2014/main" id="{697DBB5E-5765-3481-E90A-8FA7BFFBE786}"/>
              </a:ext>
            </a:extLst>
          </p:cNvPr>
          <p:cNvSpPr/>
          <p:nvPr/>
        </p:nvSpPr>
        <p:spPr>
          <a:xfrm>
            <a:off x="8038421" y="4697637"/>
            <a:ext cx="1837099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isoform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description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7" name="CustomShape 34">
            <a:extLst>
              <a:ext uri="{FF2B5EF4-FFF2-40B4-BE49-F238E27FC236}">
                <a16:creationId xmlns:a16="http://schemas.microsoft.com/office/drawing/2014/main" id="{D4D99338-3678-BAE6-8B4A-96B12F73BEBC}"/>
              </a:ext>
            </a:extLst>
          </p:cNvPr>
          <p:cNvSpPr/>
          <p:nvPr/>
        </p:nvSpPr>
        <p:spPr>
          <a:xfrm>
            <a:off x="9450341" y="5411517"/>
            <a:ext cx="425179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0" name="Line 2">
            <a:extLst>
              <a:ext uri="{FF2B5EF4-FFF2-40B4-BE49-F238E27FC236}">
                <a16:creationId xmlns:a16="http://schemas.microsoft.com/office/drawing/2014/main" id="{D21A1C76-5551-E7BE-F27C-5974DF2EE224}"/>
              </a:ext>
            </a:extLst>
          </p:cNvPr>
          <p:cNvSpPr/>
          <p:nvPr/>
        </p:nvSpPr>
        <p:spPr>
          <a:xfrm flipH="1">
            <a:off x="7380058" y="3354057"/>
            <a:ext cx="752760" cy="5821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" name="Line 3">
            <a:extLst>
              <a:ext uri="{FF2B5EF4-FFF2-40B4-BE49-F238E27FC236}">
                <a16:creationId xmlns:a16="http://schemas.microsoft.com/office/drawing/2014/main" id="{B0AE24D5-BB18-1345-1120-33DEE0F6ABCF}"/>
              </a:ext>
            </a:extLst>
          </p:cNvPr>
          <p:cNvSpPr/>
          <p:nvPr/>
        </p:nvSpPr>
        <p:spPr>
          <a:xfrm flipH="1">
            <a:off x="8907178" y="3354057"/>
            <a:ext cx="6840" cy="5821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" name="Line 4">
            <a:extLst>
              <a:ext uri="{FF2B5EF4-FFF2-40B4-BE49-F238E27FC236}">
                <a16:creationId xmlns:a16="http://schemas.microsoft.com/office/drawing/2014/main" id="{E35B573F-1914-646E-1144-8E830D3571C5}"/>
              </a:ext>
            </a:extLst>
          </p:cNvPr>
          <p:cNvSpPr/>
          <p:nvPr/>
        </p:nvSpPr>
        <p:spPr>
          <a:xfrm flipH="1">
            <a:off x="8907538" y="2348217"/>
            <a:ext cx="6120" cy="4741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" name="Line 7">
            <a:extLst>
              <a:ext uri="{FF2B5EF4-FFF2-40B4-BE49-F238E27FC236}">
                <a16:creationId xmlns:a16="http://schemas.microsoft.com/office/drawing/2014/main" id="{347DD7BA-A882-5874-9A8D-3F30D8776111}"/>
              </a:ext>
            </a:extLst>
          </p:cNvPr>
          <p:cNvSpPr/>
          <p:nvPr/>
        </p:nvSpPr>
        <p:spPr>
          <a:xfrm>
            <a:off x="8910418" y="1399257"/>
            <a:ext cx="360" cy="61236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" name="CustomShape 19">
            <a:extLst>
              <a:ext uri="{FF2B5EF4-FFF2-40B4-BE49-F238E27FC236}">
                <a16:creationId xmlns:a16="http://schemas.microsoft.com/office/drawing/2014/main" id="{197EFD2B-9CE6-102B-0403-1FDE4F347D50}"/>
              </a:ext>
            </a:extLst>
          </p:cNvPr>
          <p:cNvSpPr/>
          <p:nvPr/>
        </p:nvSpPr>
        <p:spPr>
          <a:xfrm>
            <a:off x="8270338" y="2011617"/>
            <a:ext cx="1279800" cy="35964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assembly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6" name="CustomShape 20">
            <a:extLst>
              <a:ext uri="{FF2B5EF4-FFF2-40B4-BE49-F238E27FC236}">
                <a16:creationId xmlns:a16="http://schemas.microsoft.com/office/drawing/2014/main" id="{FFCBB99C-5567-DF46-E30E-2667FD92C266}"/>
              </a:ext>
            </a:extLst>
          </p:cNvPr>
          <p:cNvSpPr/>
          <p:nvPr/>
        </p:nvSpPr>
        <p:spPr>
          <a:xfrm>
            <a:off x="8067298" y="2822337"/>
            <a:ext cx="1685880" cy="6019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Assembled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transcriptome</a:t>
            </a:r>
          </a:p>
        </p:txBody>
      </p:sp>
      <p:sp>
        <p:nvSpPr>
          <p:cNvPr id="35" name="CustomShape 16">
            <a:extLst>
              <a:ext uri="{FF2B5EF4-FFF2-40B4-BE49-F238E27FC236}">
                <a16:creationId xmlns:a16="http://schemas.microsoft.com/office/drawing/2014/main" id="{C9C4BCCE-B02C-07B8-2963-E9481B005607}"/>
              </a:ext>
            </a:extLst>
          </p:cNvPr>
          <p:cNvSpPr/>
          <p:nvPr/>
        </p:nvSpPr>
        <p:spPr>
          <a:xfrm>
            <a:off x="7898490" y="865800"/>
            <a:ext cx="2011320" cy="6397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Trimmed/filtered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reads</a:t>
            </a:r>
          </a:p>
        </p:txBody>
      </p:sp>
    </p:spTree>
    <p:extLst>
      <p:ext uri="{BB962C8B-B14F-4D97-AF65-F5344CB8AC3E}">
        <p14:creationId xmlns:p14="http://schemas.microsoft.com/office/powerpoint/2010/main" val="35420170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3E7F-F12D-C5B7-F5D5-A74378DE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3F-4C5E-2DB3-9E06-35F3E1F9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RNAseq</a:t>
            </a:r>
            <a:r>
              <a:rPr lang="en-GB" dirty="0">
                <a:ea typeface="Verdana"/>
                <a:cs typeface="Gill Sans"/>
              </a:rPr>
              <a:t> data analysis - basic pipeline</a:t>
            </a:r>
            <a:endParaRPr lang="en-GB" dirty="0"/>
          </a:p>
        </p:txBody>
      </p:sp>
      <p:sp>
        <p:nvSpPr>
          <p:cNvPr id="3" name="Line 1">
            <a:extLst>
              <a:ext uri="{FF2B5EF4-FFF2-40B4-BE49-F238E27FC236}">
                <a16:creationId xmlns:a16="http://schemas.microsoft.com/office/drawing/2014/main" id="{70BECAC0-EEDE-C928-9C69-62580FDA84E8}"/>
              </a:ext>
            </a:extLst>
          </p:cNvPr>
          <p:cNvSpPr/>
          <p:nvPr/>
        </p:nvSpPr>
        <p:spPr>
          <a:xfrm>
            <a:off x="3097530" y="5101005"/>
            <a:ext cx="82296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803123EF-EB38-BB98-2E7F-6E70D351B52E}"/>
              </a:ext>
            </a:extLst>
          </p:cNvPr>
          <p:cNvSpPr/>
          <p:nvPr/>
        </p:nvSpPr>
        <p:spPr>
          <a:xfrm>
            <a:off x="5336730" y="5998845"/>
            <a:ext cx="193680" cy="0"/>
          </a:xfrm>
          <a:prstGeom prst="line">
            <a:avLst/>
          </a:prstGeom>
          <a:ln w="7632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Line 3">
            <a:extLst>
              <a:ext uri="{FF2B5EF4-FFF2-40B4-BE49-F238E27FC236}">
                <a16:creationId xmlns:a16="http://schemas.microsoft.com/office/drawing/2014/main" id="{5429B9B6-F022-9482-0B46-C53F924E95C9}"/>
              </a:ext>
            </a:extLst>
          </p:cNvPr>
          <p:cNvSpPr/>
          <p:nvPr/>
        </p:nvSpPr>
        <p:spPr>
          <a:xfrm>
            <a:off x="2724570" y="6090285"/>
            <a:ext cx="82296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9157D905-11B7-F5C7-18BC-51AD871BA7BB}"/>
              </a:ext>
            </a:extLst>
          </p:cNvPr>
          <p:cNvSpPr/>
          <p:nvPr/>
        </p:nvSpPr>
        <p:spPr>
          <a:xfrm>
            <a:off x="2266290" y="510136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31F94216-0EB3-A34B-43B7-CB83E7499711}"/>
              </a:ext>
            </a:extLst>
          </p:cNvPr>
          <p:cNvSpPr/>
          <p:nvPr/>
        </p:nvSpPr>
        <p:spPr>
          <a:xfrm>
            <a:off x="2274570" y="422188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1A16E2ED-4A6D-77AC-D521-AF87F7F69E3E}"/>
              </a:ext>
            </a:extLst>
          </p:cNvPr>
          <p:cNvSpPr/>
          <p:nvPr/>
        </p:nvSpPr>
        <p:spPr>
          <a:xfrm flipH="1">
            <a:off x="5145930" y="4230165"/>
            <a:ext cx="5608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ACBAAC57-4093-188F-47D2-126C76DC25D4}"/>
              </a:ext>
            </a:extLst>
          </p:cNvPr>
          <p:cNvSpPr/>
          <p:nvPr/>
        </p:nvSpPr>
        <p:spPr>
          <a:xfrm flipH="1">
            <a:off x="3329010" y="4230165"/>
            <a:ext cx="5608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E67E8712-9B1E-52F3-38F5-0D7AAE1703D7}"/>
              </a:ext>
            </a:extLst>
          </p:cNvPr>
          <p:cNvSpPr/>
          <p:nvPr/>
        </p:nvSpPr>
        <p:spPr>
          <a:xfrm>
            <a:off x="6459570" y="3359685"/>
            <a:ext cx="0" cy="5695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0B578083-4813-0089-4F37-0C59ACAFF67D}"/>
              </a:ext>
            </a:extLst>
          </p:cNvPr>
          <p:cNvSpPr/>
          <p:nvPr/>
        </p:nvSpPr>
        <p:spPr>
          <a:xfrm>
            <a:off x="4011930" y="1243965"/>
            <a:ext cx="1807560" cy="76068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9DA10F-9B9C-9C5F-C3D3-48AB1314813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204650" y="929685"/>
            <a:ext cx="1252440" cy="679680"/>
          </a:xfrm>
          <a:prstGeom prst="rect">
            <a:avLst/>
          </a:prstGeom>
          <a:ln>
            <a:noFill/>
          </a:ln>
        </p:spPr>
      </p:pic>
      <p:sp>
        <p:nvSpPr>
          <p:cNvPr id="18" name="CustomShape 11">
            <a:extLst>
              <a:ext uri="{FF2B5EF4-FFF2-40B4-BE49-F238E27FC236}">
                <a16:creationId xmlns:a16="http://schemas.microsoft.com/office/drawing/2014/main" id="{D11332CF-85D1-D577-A492-5AD944E2B987}"/>
              </a:ext>
            </a:extLst>
          </p:cNvPr>
          <p:cNvSpPr/>
          <p:nvPr/>
        </p:nvSpPr>
        <p:spPr>
          <a:xfrm>
            <a:off x="1132650" y="1491645"/>
            <a:ext cx="1964520" cy="30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323232"/>
                </a:solidFill>
                <a:latin typeface="Cambria"/>
                <a:ea typeface="DejaVu Sans"/>
              </a:rPr>
              <a:t>Sequencing</a:t>
            </a:r>
            <a:endParaRPr lang="en-US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323232"/>
                </a:solidFill>
                <a:latin typeface="Cambria"/>
                <a:ea typeface="DejaVu Sans"/>
              </a:rPr>
              <a:t>facility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0" name="CustomShape 13">
            <a:extLst>
              <a:ext uri="{FF2B5EF4-FFF2-40B4-BE49-F238E27FC236}">
                <a16:creationId xmlns:a16="http://schemas.microsoft.com/office/drawing/2014/main" id="{ED9F3242-0C13-AD9F-860F-1D69BD66E7F8}"/>
              </a:ext>
            </a:extLst>
          </p:cNvPr>
          <p:cNvSpPr/>
          <p:nvPr/>
        </p:nvSpPr>
        <p:spPr>
          <a:xfrm>
            <a:off x="5773770" y="2815365"/>
            <a:ext cx="1371240" cy="6019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Mapped reads</a:t>
            </a:r>
          </a:p>
        </p:txBody>
      </p:sp>
      <p:sp>
        <p:nvSpPr>
          <p:cNvPr id="21" name="CustomShape 14">
            <a:extLst>
              <a:ext uri="{FF2B5EF4-FFF2-40B4-BE49-F238E27FC236}">
                <a16:creationId xmlns:a16="http://schemas.microsoft.com/office/drawing/2014/main" id="{6D77A17A-823B-3D57-D23D-4BA1800C91BE}"/>
              </a:ext>
            </a:extLst>
          </p:cNvPr>
          <p:cNvSpPr/>
          <p:nvPr/>
        </p:nvSpPr>
        <p:spPr>
          <a:xfrm>
            <a:off x="5819490" y="2004645"/>
            <a:ext cx="1279800" cy="35964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mapping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" name="CustomShape 15">
            <a:extLst>
              <a:ext uri="{FF2B5EF4-FFF2-40B4-BE49-F238E27FC236}">
                <a16:creationId xmlns:a16="http://schemas.microsoft.com/office/drawing/2014/main" id="{029FA7BA-FF25-842F-67BE-EF195257FE64}"/>
              </a:ext>
            </a:extLst>
          </p:cNvPr>
          <p:cNvSpPr/>
          <p:nvPr/>
        </p:nvSpPr>
        <p:spPr>
          <a:xfrm>
            <a:off x="5545170" y="3929205"/>
            <a:ext cx="182844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expression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quantification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" name="CustomShape 16">
            <a:extLst>
              <a:ext uri="{FF2B5EF4-FFF2-40B4-BE49-F238E27FC236}">
                <a16:creationId xmlns:a16="http://schemas.microsoft.com/office/drawing/2014/main" id="{795D276C-9915-8E9E-A776-35682B97BE89}"/>
              </a:ext>
            </a:extLst>
          </p:cNvPr>
          <p:cNvSpPr/>
          <p:nvPr/>
        </p:nvSpPr>
        <p:spPr>
          <a:xfrm>
            <a:off x="3774330" y="3929205"/>
            <a:ext cx="1371240" cy="6019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Expression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matrix</a:t>
            </a:r>
          </a:p>
        </p:txBody>
      </p:sp>
      <p:sp>
        <p:nvSpPr>
          <p:cNvPr id="24" name="CustomShape 17">
            <a:extLst>
              <a:ext uri="{FF2B5EF4-FFF2-40B4-BE49-F238E27FC236}">
                <a16:creationId xmlns:a16="http://schemas.microsoft.com/office/drawing/2014/main" id="{D144021D-3055-72F3-A4B2-5D0244B87E40}"/>
              </a:ext>
            </a:extLst>
          </p:cNvPr>
          <p:cNvSpPr/>
          <p:nvPr/>
        </p:nvSpPr>
        <p:spPr>
          <a:xfrm>
            <a:off x="1464210" y="5670885"/>
            <a:ext cx="1603800" cy="85788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Differential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Expression analysis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5" name="CustomShape 18">
            <a:extLst>
              <a:ext uri="{FF2B5EF4-FFF2-40B4-BE49-F238E27FC236}">
                <a16:creationId xmlns:a16="http://schemas.microsoft.com/office/drawing/2014/main" id="{AB91353F-9F89-3E97-6742-C2C733D89384}"/>
              </a:ext>
            </a:extLst>
          </p:cNvPr>
          <p:cNvSpPr/>
          <p:nvPr/>
        </p:nvSpPr>
        <p:spPr>
          <a:xfrm>
            <a:off x="3547530" y="5790405"/>
            <a:ext cx="1824840" cy="61884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Table of DE genes/transcript</a:t>
            </a:r>
          </a:p>
        </p:txBody>
      </p:sp>
      <p:sp>
        <p:nvSpPr>
          <p:cNvPr id="26" name="CustomShape 19">
            <a:extLst>
              <a:ext uri="{FF2B5EF4-FFF2-40B4-BE49-F238E27FC236}">
                <a16:creationId xmlns:a16="http://schemas.microsoft.com/office/drawing/2014/main" id="{993ADF29-ACB0-902D-FA65-B70DE2A6FDB6}"/>
              </a:ext>
            </a:extLst>
          </p:cNvPr>
          <p:cNvSpPr/>
          <p:nvPr/>
        </p:nvSpPr>
        <p:spPr>
          <a:xfrm>
            <a:off x="5899050" y="5439045"/>
            <a:ext cx="280836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Pathway enrichment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analysis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7" name="CustomShape 20">
            <a:extLst>
              <a:ext uri="{FF2B5EF4-FFF2-40B4-BE49-F238E27FC236}">
                <a16:creationId xmlns:a16="http://schemas.microsoft.com/office/drawing/2014/main" id="{49AB2BAA-F0C1-BCCC-287F-C958CCCC7C20}"/>
              </a:ext>
            </a:extLst>
          </p:cNvPr>
          <p:cNvSpPr/>
          <p:nvPr/>
        </p:nvSpPr>
        <p:spPr>
          <a:xfrm>
            <a:off x="1353690" y="4791405"/>
            <a:ext cx="1824840" cy="61884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Normalized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counts</a:t>
            </a:r>
          </a:p>
        </p:txBody>
      </p:sp>
      <p:sp>
        <p:nvSpPr>
          <p:cNvPr id="28" name="CustomShape 21">
            <a:extLst>
              <a:ext uri="{FF2B5EF4-FFF2-40B4-BE49-F238E27FC236}">
                <a16:creationId xmlns:a16="http://schemas.microsoft.com/office/drawing/2014/main" id="{9311A648-6A5C-595B-EFA9-1D98A69B7577}"/>
              </a:ext>
            </a:extLst>
          </p:cNvPr>
          <p:cNvSpPr/>
          <p:nvPr/>
        </p:nvSpPr>
        <p:spPr>
          <a:xfrm>
            <a:off x="1205370" y="3929205"/>
            <a:ext cx="212148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normalization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across libraries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9" name="CustomShape 22">
            <a:extLst>
              <a:ext uri="{FF2B5EF4-FFF2-40B4-BE49-F238E27FC236}">
                <a16:creationId xmlns:a16="http://schemas.microsoft.com/office/drawing/2014/main" id="{DCA02250-4A08-5E02-DC41-79B571BBD3CB}"/>
              </a:ext>
            </a:extLst>
          </p:cNvPr>
          <p:cNvSpPr/>
          <p:nvPr/>
        </p:nvSpPr>
        <p:spPr>
          <a:xfrm>
            <a:off x="3920490" y="4917405"/>
            <a:ext cx="416520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0" name="CustomShape 23">
            <a:extLst>
              <a:ext uri="{FF2B5EF4-FFF2-40B4-BE49-F238E27FC236}">
                <a16:creationId xmlns:a16="http://schemas.microsoft.com/office/drawing/2014/main" id="{39D2768D-BFAC-18BE-5E31-40FCEDE732A6}"/>
              </a:ext>
            </a:extLst>
          </p:cNvPr>
          <p:cNvSpPr/>
          <p:nvPr/>
        </p:nvSpPr>
        <p:spPr>
          <a:xfrm>
            <a:off x="5899050" y="6127365"/>
            <a:ext cx="416520" cy="36720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...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E0D61AD8-CC5E-18A3-6D23-3F913AA69874}"/>
              </a:ext>
            </a:extLst>
          </p:cNvPr>
          <p:cNvSpPr/>
          <p:nvPr/>
        </p:nvSpPr>
        <p:spPr>
          <a:xfrm>
            <a:off x="6459570" y="2364645"/>
            <a:ext cx="0" cy="45072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49CCAC66-7C5E-1307-9C61-D6BC9C021C40}"/>
              </a:ext>
            </a:extLst>
          </p:cNvPr>
          <p:cNvSpPr/>
          <p:nvPr/>
        </p:nvSpPr>
        <p:spPr>
          <a:xfrm>
            <a:off x="5566410" y="5670885"/>
            <a:ext cx="33264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61D1482C-79E8-FE0A-052C-B93A5D0FE337}"/>
              </a:ext>
            </a:extLst>
          </p:cNvPr>
          <p:cNvSpPr/>
          <p:nvPr/>
        </p:nvSpPr>
        <p:spPr>
          <a:xfrm>
            <a:off x="5566410" y="6326805"/>
            <a:ext cx="33264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AFF0DB09-3700-2447-0FAD-D0574E245450}"/>
              </a:ext>
            </a:extLst>
          </p:cNvPr>
          <p:cNvSpPr/>
          <p:nvPr/>
        </p:nvSpPr>
        <p:spPr>
          <a:xfrm>
            <a:off x="5566410" y="5633085"/>
            <a:ext cx="0" cy="731520"/>
          </a:xfrm>
          <a:prstGeom prst="line">
            <a:avLst/>
          </a:prstGeom>
          <a:ln w="76320">
            <a:solidFill>
              <a:srgbClr val="CCCC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BD49860E-3621-2B74-05C0-D59E46A64B0C}"/>
              </a:ext>
            </a:extLst>
          </p:cNvPr>
          <p:cNvSpPr/>
          <p:nvPr/>
        </p:nvSpPr>
        <p:spPr>
          <a:xfrm>
            <a:off x="4194810" y="1185840"/>
            <a:ext cx="163008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C56B3D50-AD3C-B805-B738-E5936030FACC}"/>
              </a:ext>
            </a:extLst>
          </p:cNvPr>
          <p:cNvSpPr/>
          <p:nvPr/>
        </p:nvSpPr>
        <p:spPr>
          <a:xfrm>
            <a:off x="6585570" y="1185840"/>
            <a:ext cx="1312920" cy="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C24C6895-C541-38E4-C3ED-5FA030DCF50E}"/>
              </a:ext>
            </a:extLst>
          </p:cNvPr>
          <p:cNvSpPr/>
          <p:nvPr/>
        </p:nvSpPr>
        <p:spPr>
          <a:xfrm flipH="1">
            <a:off x="7099650" y="1417320"/>
            <a:ext cx="935640" cy="577800"/>
          </a:xfrm>
          <a:prstGeom prst="line">
            <a:avLst/>
          </a:prstGeom>
          <a:ln w="76320">
            <a:solidFill>
              <a:srgbClr val="CCCCC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" name="CustomShape 16">
            <a:extLst>
              <a:ext uri="{FF2B5EF4-FFF2-40B4-BE49-F238E27FC236}">
                <a16:creationId xmlns:a16="http://schemas.microsoft.com/office/drawing/2014/main" id="{C9C4BCCE-B02C-07B8-2963-E9481B005607}"/>
              </a:ext>
            </a:extLst>
          </p:cNvPr>
          <p:cNvSpPr/>
          <p:nvPr/>
        </p:nvSpPr>
        <p:spPr>
          <a:xfrm>
            <a:off x="7898490" y="865800"/>
            <a:ext cx="2011320" cy="63972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Trimmed/filtered</a:t>
            </a: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reads</a:t>
            </a:r>
          </a:p>
        </p:txBody>
      </p:sp>
      <p:sp>
        <p:nvSpPr>
          <p:cNvPr id="36" name="CustomShape 18">
            <a:extLst>
              <a:ext uri="{FF2B5EF4-FFF2-40B4-BE49-F238E27FC236}">
                <a16:creationId xmlns:a16="http://schemas.microsoft.com/office/drawing/2014/main" id="{ED886C70-B53E-8CB4-5B99-07272B670106}"/>
              </a:ext>
            </a:extLst>
          </p:cNvPr>
          <p:cNvSpPr/>
          <p:nvPr/>
        </p:nvSpPr>
        <p:spPr>
          <a:xfrm>
            <a:off x="5824890" y="884880"/>
            <a:ext cx="1269000" cy="601920"/>
          </a:xfrm>
          <a:prstGeom prst="rect">
            <a:avLst/>
          </a:prstGeom>
          <a:solidFill>
            <a:srgbClr val="35526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trimming/filtering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9" name="CustomShape 12">
            <a:extLst>
              <a:ext uri="{FF2B5EF4-FFF2-40B4-BE49-F238E27FC236}">
                <a16:creationId xmlns:a16="http://schemas.microsoft.com/office/drawing/2014/main" id="{73A432FC-EBC3-0EDA-177C-E3380ECD1C1B}"/>
              </a:ext>
            </a:extLst>
          </p:cNvPr>
          <p:cNvSpPr/>
          <p:nvPr/>
        </p:nvSpPr>
        <p:spPr>
          <a:xfrm>
            <a:off x="2914650" y="1012485"/>
            <a:ext cx="1371240" cy="365400"/>
          </a:xfrm>
          <a:prstGeom prst="rect">
            <a:avLst/>
          </a:prstGeom>
          <a:solidFill>
            <a:srgbClr val="FFAA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Raw reads</a:t>
            </a:r>
          </a:p>
        </p:txBody>
      </p:sp>
      <p:sp>
        <p:nvSpPr>
          <p:cNvPr id="8" name="CustomShape 18">
            <a:extLst>
              <a:ext uri="{FF2B5EF4-FFF2-40B4-BE49-F238E27FC236}">
                <a16:creationId xmlns:a16="http://schemas.microsoft.com/office/drawing/2014/main" id="{9C68949C-5537-5CD3-8FA2-6A625A4FD2CD}"/>
              </a:ext>
            </a:extLst>
          </p:cNvPr>
          <p:cNvSpPr/>
          <p:nvPr/>
        </p:nvSpPr>
        <p:spPr>
          <a:xfrm>
            <a:off x="2578920" y="1335405"/>
            <a:ext cx="605880" cy="365400"/>
          </a:xfrm>
          <a:prstGeom prst="rect">
            <a:avLst/>
          </a:prstGeom>
          <a:solidFill>
            <a:srgbClr val="81D41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QC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" name="CustomShape 18">
            <a:extLst>
              <a:ext uri="{FF2B5EF4-FFF2-40B4-BE49-F238E27FC236}">
                <a16:creationId xmlns:a16="http://schemas.microsoft.com/office/drawing/2014/main" id="{A14AFB3C-3BE5-2B78-A1A4-4B372DEC9DEF}"/>
              </a:ext>
            </a:extLst>
          </p:cNvPr>
          <p:cNvSpPr/>
          <p:nvPr/>
        </p:nvSpPr>
        <p:spPr>
          <a:xfrm>
            <a:off x="9541695" y="1449705"/>
            <a:ext cx="605880" cy="365400"/>
          </a:xfrm>
          <a:prstGeom prst="rect">
            <a:avLst/>
          </a:prstGeom>
          <a:solidFill>
            <a:srgbClr val="81D41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QC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7" name="CustomShape 18">
            <a:extLst>
              <a:ext uri="{FF2B5EF4-FFF2-40B4-BE49-F238E27FC236}">
                <a16:creationId xmlns:a16="http://schemas.microsoft.com/office/drawing/2014/main" id="{B11A84FC-8E3B-FC18-0CB5-0B50A408B355}"/>
              </a:ext>
            </a:extLst>
          </p:cNvPr>
          <p:cNvSpPr/>
          <p:nvPr/>
        </p:nvSpPr>
        <p:spPr>
          <a:xfrm>
            <a:off x="5379270" y="3240405"/>
            <a:ext cx="605880" cy="365400"/>
          </a:xfrm>
          <a:prstGeom prst="rect">
            <a:avLst/>
          </a:prstGeom>
          <a:solidFill>
            <a:srgbClr val="81D41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QC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" name="CustomShape 18">
            <a:extLst>
              <a:ext uri="{FF2B5EF4-FFF2-40B4-BE49-F238E27FC236}">
                <a16:creationId xmlns:a16="http://schemas.microsoft.com/office/drawing/2014/main" id="{FEEA283D-C395-C337-6CC7-1508AB70711C}"/>
              </a:ext>
            </a:extLst>
          </p:cNvPr>
          <p:cNvSpPr/>
          <p:nvPr/>
        </p:nvSpPr>
        <p:spPr>
          <a:xfrm>
            <a:off x="2940870" y="4612005"/>
            <a:ext cx="605880" cy="365400"/>
          </a:xfrm>
          <a:prstGeom prst="rect">
            <a:avLst/>
          </a:prstGeom>
          <a:solidFill>
            <a:srgbClr val="81D41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EEEEEE"/>
                </a:solidFill>
                <a:latin typeface="Arial"/>
              </a:rPr>
              <a:t>QC</a:t>
            </a:r>
            <a:endParaRPr lang="en-US" sz="18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03101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5A16-C0AF-A499-7C5C-1FEC9C8F7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ea typeface="Verdana"/>
              </a:rPr>
              <a:t>Thank you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4C7F0-2B33-8266-8173-C8D18A1B4A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487991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 theme">
  <a:themeElements>
    <a:clrScheme name="SIB">
      <a:dk1>
        <a:srgbClr val="1E2232"/>
      </a:dk1>
      <a:lt1>
        <a:srgbClr val="FFFFFF"/>
      </a:lt1>
      <a:dk2>
        <a:srgbClr val="E20613"/>
      </a:dk2>
      <a:lt2>
        <a:srgbClr val="E7E6E6"/>
      </a:lt2>
      <a:accent1>
        <a:srgbClr val="77E0C1"/>
      </a:accent1>
      <a:accent2>
        <a:srgbClr val="3368ED"/>
      </a:accent2>
      <a:accent3>
        <a:srgbClr val="F6D0D0"/>
      </a:accent3>
      <a:accent4>
        <a:srgbClr val="50B798"/>
      </a:accent4>
      <a:accent5>
        <a:srgbClr val="F6F6F6"/>
      </a:accent5>
      <a:accent6>
        <a:srgbClr val="000000"/>
      </a:accent6>
      <a:hlink>
        <a:srgbClr val="3267ED"/>
      </a:hlink>
      <a:folHlink>
        <a:srgbClr val="1E213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  <a:tailEnd type="triangl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884769A1460844A8276E9E33D9EC1F" ma:contentTypeVersion="17" ma:contentTypeDescription="Create a new document." ma:contentTypeScope="" ma:versionID="1e661dde982bb637ab265ef9bdeebac4">
  <xsd:schema xmlns:xsd="http://www.w3.org/2001/XMLSchema" xmlns:xs="http://www.w3.org/2001/XMLSchema" xmlns:p="http://schemas.microsoft.com/office/2006/metadata/properties" xmlns:ns2="51cd6d5f-6ae9-4e54-9898-8992a7ff3036" xmlns:ns3="1136f6dd-7c48-4f33-aa6a-8b8e7584cecf" targetNamespace="http://schemas.microsoft.com/office/2006/metadata/properties" ma:root="true" ma:fieldsID="268353165dcdbb2dfcde019cd206b759" ns2:_="" ns3:_="">
    <xsd:import namespace="51cd6d5f-6ae9-4e54-9898-8992a7ff3036"/>
    <xsd:import namespace="1136f6dd-7c48-4f33-aa6a-8b8e7584ce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d6d5f-6ae9-4e54-9898-8992a7ff3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af233ad-a872-49f3-8d8c-f1cf611cbd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36f6dd-7c48-4f33-aa6a-8b8e7584cec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d6480a6-8657-40ee-b73b-62f5e6461347}" ma:internalName="TaxCatchAll" ma:showField="CatchAllData" ma:web="1136f6dd-7c48-4f33-aa6a-8b8e7584ce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cd6d5f-6ae9-4e54-9898-8992a7ff3036">
      <Terms xmlns="http://schemas.microsoft.com/office/infopath/2007/PartnerControls"/>
    </lcf76f155ced4ddcb4097134ff3c332f>
    <TaxCatchAll xmlns="1136f6dd-7c48-4f33-aa6a-8b8e7584cecf" xsi:nil="true"/>
  </documentManagement>
</p:properties>
</file>

<file path=customXml/itemProps1.xml><?xml version="1.0" encoding="utf-8"?>
<ds:datastoreItem xmlns:ds="http://schemas.openxmlformats.org/officeDocument/2006/customXml" ds:itemID="{73CC3BE7-1E24-4E91-A36E-E39FC0373FB8}">
  <ds:schemaRefs>
    <ds:schemaRef ds:uri="1136f6dd-7c48-4f33-aa6a-8b8e7584cecf"/>
    <ds:schemaRef ds:uri="51cd6d5f-6ae9-4e54-9898-8992a7ff30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C234DFD-9E98-47EE-A822-37224EBFD7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B38228-41B2-4CC0-85B6-8CB372D27A8C}">
  <ds:schemaRefs>
    <ds:schemaRef ds:uri="51cd6d5f-6ae9-4e54-9898-8992a7ff3036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1136f6dd-7c48-4f33-aa6a-8b8e7584cecf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3573</TotalTime>
  <Words>1472</Words>
  <Application>Microsoft Office PowerPoint</Application>
  <PresentationFormat>Widescreen</PresentationFormat>
  <Paragraphs>225</Paragraphs>
  <Slides>50</Slides>
  <Notes>4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Global theme</vt:lpstr>
      <vt:lpstr>Introduction to RNA-Seq: Overview</vt:lpstr>
      <vt:lpstr>General Information</vt:lpstr>
      <vt:lpstr>Asking questions - Communication</vt:lpstr>
      <vt:lpstr>Course Outline</vt:lpstr>
      <vt:lpstr>slides Outline</vt:lpstr>
      <vt:lpstr>Introducing Ourselves</vt:lpstr>
      <vt:lpstr>PowerPoint Presentation</vt:lpstr>
      <vt:lpstr>PowerPoint Presentation</vt:lpstr>
      <vt:lpstr>alternative splicing adds a layer of complexity</vt:lpstr>
      <vt:lpstr>PowerPoint Presentation</vt:lpstr>
      <vt:lpstr>What (and why) are we sequencing</vt:lpstr>
      <vt:lpstr>What (and why) are we sequencing</vt:lpstr>
      <vt:lpstr>slides Outline</vt:lpstr>
      <vt:lpstr>Main challenges of RNAseq</vt:lpstr>
      <vt:lpstr>Main challenges of RNAseq</vt:lpstr>
      <vt:lpstr>Main challenges of RNAseq</vt:lpstr>
      <vt:lpstr>slides Outline</vt:lpstr>
      <vt:lpstr>Main sequencing technologies</vt:lpstr>
      <vt:lpstr>Ion torrent - reading pH changes</vt:lpstr>
      <vt:lpstr>Oxford Nanopore - direct sequencing</vt:lpstr>
      <vt:lpstr>Pacific Biosciences - Single Molecule Real Time </vt:lpstr>
      <vt:lpstr>Pacific Biosciences - Circular Consensus Sequencing</vt:lpstr>
      <vt:lpstr>Illumina sequencing - cluster formation</vt:lpstr>
      <vt:lpstr>Illumina sequencing - cluster formation</vt:lpstr>
      <vt:lpstr>Illumina sequencing - sequencing by synthesis</vt:lpstr>
      <vt:lpstr>Illumina sequencing - image analysis</vt:lpstr>
      <vt:lpstr>Illumina sequencing - from image to sequence</vt:lpstr>
      <vt:lpstr>slides Outline</vt:lpstr>
      <vt:lpstr>Paired-end sequencing</vt:lpstr>
      <vt:lpstr>Stranded vs Unstranded Sequencing</vt:lpstr>
      <vt:lpstr>RNA purification</vt:lpstr>
      <vt:lpstr>Sequencing depth</vt:lpstr>
      <vt:lpstr>Replicates - estimating a biological variance</vt:lpstr>
      <vt:lpstr>Replicates - estimating a biological variance</vt:lpstr>
      <vt:lpstr>Technical replicates</vt:lpstr>
      <vt:lpstr>Technical replicates</vt:lpstr>
      <vt:lpstr>Technical replicates</vt:lpstr>
      <vt:lpstr>Biological replicates</vt:lpstr>
      <vt:lpstr>More reads or more replicates?</vt:lpstr>
      <vt:lpstr>More reads or more replicates?</vt:lpstr>
      <vt:lpstr>RNA sample preparation - RIN</vt:lpstr>
      <vt:lpstr>RNA sample preparation - RIN</vt:lpstr>
      <vt:lpstr>slides Outline</vt:lpstr>
      <vt:lpstr>Basic RNAseq protocol overview</vt:lpstr>
      <vt:lpstr>RNAseq data analysis - basic pipeline</vt:lpstr>
      <vt:lpstr>RNAseq data analysis - basic pipeline</vt:lpstr>
      <vt:lpstr>RNAseq data analysis - basic pipeline</vt:lpstr>
      <vt:lpstr>RNAseq data analysis - basic pipeline</vt:lpstr>
      <vt:lpstr>RNAseq data analysis - basic pipeline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 Swiss Institute of Bioinformatics</dc:title>
  <dc:creator>O365</dc:creator>
  <cp:lastModifiedBy>Marie Dangles</cp:lastModifiedBy>
  <cp:revision>3234</cp:revision>
  <dcterms:created xsi:type="dcterms:W3CDTF">2023-02-23T13:26:01Z</dcterms:created>
  <dcterms:modified xsi:type="dcterms:W3CDTF">2026-09-23T15:07:27Z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0x010100D1884769A1460844A8276E9E33D9EC1F</vt:lpwstr>
  </property>
  <property fmtid="{D5CDD505-2E9C-101B-9397-08002B2CF9AE}" pid="3" name="MediaServiceImageTags">
    <vt:lpwstr/>
  </property>
</Properties>
</file>